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League Spartan"/>
      <p:regular r:id="rId18"/>
      <p:bold r:id="rId19"/>
    </p:embeddedFont>
    <p:embeddedFont>
      <p:font typeface="Open Sans SemiBold"/>
      <p:regular r:id="rId20"/>
      <p:bold r:id="rId21"/>
      <p:italic r:id="rId22"/>
      <p:boldItalic r:id="rId23"/>
    </p:embeddedFont>
    <p:embeddedFont>
      <p:font typeface="Open Sans ExtraBold"/>
      <p:bold r:id="rId24"/>
      <p:boldItalic r:id="rId25"/>
    </p:embeddedFont>
    <p:embeddedFont>
      <p:font typeface="Open Sa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agaaXvMn4ftvvSydav94RVtRL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regular.fntdata"/><Relationship Id="rId22" Type="http://schemas.openxmlformats.org/officeDocument/2006/relationships/font" Target="fonts/OpenSansSemiBold-italic.fntdata"/><Relationship Id="rId21" Type="http://schemas.openxmlformats.org/officeDocument/2006/relationships/font" Target="fonts/OpenSansSemiBold-bold.fntdata"/><Relationship Id="rId24" Type="http://schemas.openxmlformats.org/officeDocument/2006/relationships/font" Target="fonts/OpenSansExtraBold-bold.fntdata"/><Relationship Id="rId23" Type="http://schemas.openxmlformats.org/officeDocument/2006/relationships/font" Target="fonts/Open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ExtraBold-boldItalic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eagueSpartan-bold.fntdata"/><Relationship Id="rId18" Type="http://schemas.openxmlformats.org/officeDocument/2006/relationships/font" Target="fonts/LeagueSparta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80270db7c_0_28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80270db7c_0_2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4ec2d9a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4ec2d9a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0270db7c_0_3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80270db7c_0_3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04270fab_92_0)">
  <p:cSld name="Generated (g3f804270fab_9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13.png"/><Relationship Id="rId13" Type="http://schemas.openxmlformats.org/officeDocument/2006/relationships/image" Target="../media/image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15" Type="http://schemas.openxmlformats.org/officeDocument/2006/relationships/image" Target="../media/image10.jpg"/><Relationship Id="rId14" Type="http://schemas.openxmlformats.org/officeDocument/2006/relationships/image" Target="../media/image12.png"/><Relationship Id="rId17" Type="http://schemas.openxmlformats.org/officeDocument/2006/relationships/image" Target="../media/image14.png"/><Relationship Id="rId16" Type="http://schemas.openxmlformats.org/officeDocument/2006/relationships/image" Target="../media/image9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jpg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 rot="2191779">
            <a:off x="16317141" y="1401623"/>
            <a:ext cx="5281602" cy="6044752"/>
          </a:xfrm>
          <a:custGeom>
            <a:rect b="b" l="l" r="r" t="t"/>
            <a:pathLst>
              <a:path extrusionOk="0" h="6044752" w="5281602">
                <a:moveTo>
                  <a:pt x="0" y="0"/>
                </a:moveTo>
                <a:lnTo>
                  <a:pt x="5281602" y="0"/>
                </a:lnTo>
                <a:lnTo>
                  <a:pt x="5281602" y="6044752"/>
                </a:lnTo>
                <a:lnTo>
                  <a:pt x="0" y="6044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580272">
            <a:off x="-2988263" y="1620393"/>
            <a:ext cx="4068508" cy="411480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9" y="0"/>
                </a:lnTo>
                <a:lnTo>
                  <a:pt x="40685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1609195">
            <a:off x="-1591696" y="4259558"/>
            <a:ext cx="3077802" cy="2092906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6843119" y="2502505"/>
            <a:ext cx="1383035" cy="1320913"/>
          </a:xfrm>
          <a:custGeom>
            <a:rect b="b" l="l" r="r" t="t"/>
            <a:pathLst>
              <a:path extrusionOk="0" h="1320913" w="1383035">
                <a:moveTo>
                  <a:pt x="0" y="0"/>
                </a:moveTo>
                <a:lnTo>
                  <a:pt x="1383035" y="0"/>
                </a:lnTo>
                <a:lnTo>
                  <a:pt x="1383035" y="1320913"/>
                </a:lnTo>
                <a:lnTo>
                  <a:pt x="0" y="1320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6639142" y="2386495"/>
            <a:ext cx="5609965" cy="3739977"/>
          </a:xfrm>
          <a:custGeom>
            <a:rect b="b" l="l" r="r" t="t"/>
            <a:pathLst>
              <a:path extrusionOk="0" h="3739977" w="5609965">
                <a:moveTo>
                  <a:pt x="0" y="0"/>
                </a:moveTo>
                <a:lnTo>
                  <a:pt x="5609965" y="0"/>
                </a:lnTo>
                <a:lnTo>
                  <a:pt x="5609965" y="3739977"/>
                </a:lnTo>
                <a:lnTo>
                  <a:pt x="0" y="3739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345698" y="327044"/>
            <a:ext cx="5177302" cy="787381"/>
          </a:xfrm>
          <a:custGeom>
            <a:rect b="b" l="l" r="r" t="t"/>
            <a:pathLst>
              <a:path extrusionOk="0" h="787381" w="5177302">
                <a:moveTo>
                  <a:pt x="0" y="0"/>
                </a:moveTo>
                <a:lnTo>
                  <a:pt x="5177302" y="0"/>
                </a:lnTo>
                <a:lnTo>
                  <a:pt x="5177302" y="787381"/>
                </a:lnTo>
                <a:lnTo>
                  <a:pt x="0" y="787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7358044" y="2133458"/>
            <a:ext cx="3721009" cy="905445"/>
          </a:xfrm>
          <a:custGeom>
            <a:rect b="b" l="l" r="r" t="t"/>
            <a:pathLst>
              <a:path extrusionOk="0" h="905445" w="3721009">
                <a:moveTo>
                  <a:pt x="0" y="0"/>
                </a:moveTo>
                <a:lnTo>
                  <a:pt x="3721009" y="0"/>
                </a:lnTo>
                <a:lnTo>
                  <a:pt x="3721009" y="905445"/>
                </a:lnTo>
                <a:lnTo>
                  <a:pt x="0" y="905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6244518" y="271759"/>
            <a:ext cx="864540" cy="897447"/>
          </a:xfrm>
          <a:custGeom>
            <a:rect b="b" l="l" r="r" t="t"/>
            <a:pathLst>
              <a:path extrusionOk="0" h="897447" w="864540">
                <a:moveTo>
                  <a:pt x="0" y="0"/>
                </a:moveTo>
                <a:lnTo>
                  <a:pt x="864541" y="0"/>
                </a:lnTo>
                <a:lnTo>
                  <a:pt x="864541" y="897447"/>
                </a:lnTo>
                <a:lnTo>
                  <a:pt x="0" y="897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171699" y="228616"/>
            <a:ext cx="937490" cy="1024266"/>
          </a:xfrm>
          <a:custGeom>
            <a:rect b="b" l="l" r="r" t="t"/>
            <a:pathLst>
              <a:path extrusionOk="0" h="1024266" w="937490">
                <a:moveTo>
                  <a:pt x="0" y="0"/>
                </a:moveTo>
                <a:lnTo>
                  <a:pt x="937491" y="0"/>
                </a:lnTo>
                <a:lnTo>
                  <a:pt x="937491" y="1024266"/>
                </a:lnTo>
                <a:lnTo>
                  <a:pt x="0" y="1024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4598050" y="370504"/>
            <a:ext cx="1617961" cy="699958"/>
          </a:xfrm>
          <a:custGeom>
            <a:rect b="b" l="l" r="r" t="t"/>
            <a:pathLst>
              <a:path extrusionOk="0" h="699958" w="1617961">
                <a:moveTo>
                  <a:pt x="0" y="0"/>
                </a:moveTo>
                <a:lnTo>
                  <a:pt x="1617961" y="0"/>
                </a:lnTo>
                <a:lnTo>
                  <a:pt x="1617961" y="699957"/>
                </a:lnTo>
                <a:lnTo>
                  <a:pt x="0" y="699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3595623" y="423465"/>
            <a:ext cx="860246" cy="646997"/>
          </a:xfrm>
          <a:custGeom>
            <a:rect b="b" l="l" r="r" t="t"/>
            <a:pathLst>
              <a:path extrusionOk="0" h="646997" w="860246">
                <a:moveTo>
                  <a:pt x="0" y="0"/>
                </a:moveTo>
                <a:lnTo>
                  <a:pt x="860246" y="0"/>
                </a:lnTo>
                <a:lnTo>
                  <a:pt x="860246" y="646996"/>
                </a:lnTo>
                <a:lnTo>
                  <a:pt x="0" y="646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2249107" y="138235"/>
            <a:ext cx="1249721" cy="1249721"/>
          </a:xfrm>
          <a:custGeom>
            <a:rect b="b" l="l" r="r" t="t"/>
            <a:pathLst>
              <a:path extrusionOk="0" h="1249721" w="1249721">
                <a:moveTo>
                  <a:pt x="0" y="0"/>
                </a:moveTo>
                <a:lnTo>
                  <a:pt x="1249721" y="0"/>
                </a:lnTo>
                <a:lnTo>
                  <a:pt x="1249721" y="1249721"/>
                </a:lnTo>
                <a:lnTo>
                  <a:pt x="0" y="1249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6870483" y="9183445"/>
            <a:ext cx="1417517" cy="920173"/>
          </a:xfrm>
          <a:custGeom>
            <a:rect b="b" l="l" r="r" t="t"/>
            <a:pathLst>
              <a:path extrusionOk="0" h="920173" w="1417517">
                <a:moveTo>
                  <a:pt x="0" y="0"/>
                </a:moveTo>
                <a:lnTo>
                  <a:pt x="1417517" y="0"/>
                </a:lnTo>
                <a:lnTo>
                  <a:pt x="1417517" y="920173"/>
                </a:lnTo>
                <a:lnTo>
                  <a:pt x="0" y="9201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5966753" y="9148878"/>
            <a:ext cx="1038448" cy="1070578"/>
          </a:xfrm>
          <a:custGeom>
            <a:rect b="b" l="l" r="r" t="t"/>
            <a:pathLst>
              <a:path extrusionOk="0" h="1070578" w="1038448">
                <a:moveTo>
                  <a:pt x="0" y="0"/>
                </a:moveTo>
                <a:lnTo>
                  <a:pt x="1038448" y="0"/>
                </a:lnTo>
                <a:lnTo>
                  <a:pt x="1038448" y="1070578"/>
                </a:lnTo>
                <a:lnTo>
                  <a:pt x="0" y="1070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-3094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5826648" y="2456452"/>
            <a:ext cx="1340896" cy="1164903"/>
          </a:xfrm>
          <a:custGeom>
            <a:rect b="b" l="l" r="r" t="t"/>
            <a:pathLst>
              <a:path extrusionOk="0" h="1164903" w="1340896">
                <a:moveTo>
                  <a:pt x="0" y="0"/>
                </a:moveTo>
                <a:lnTo>
                  <a:pt x="1340896" y="0"/>
                </a:lnTo>
                <a:lnTo>
                  <a:pt x="1340896" y="1164903"/>
                </a:lnTo>
                <a:lnTo>
                  <a:pt x="0" y="1164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 txBox="1"/>
          <p:nvPr/>
        </p:nvSpPr>
        <p:spPr>
          <a:xfrm>
            <a:off x="6649181" y="5563186"/>
            <a:ext cx="5599927" cy="776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43" u="none" cap="none" strike="noStrike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PROJECT TITLE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080950" y="6786991"/>
            <a:ext cx="16463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Write your company/idea name above and an intriguing summary of what your idea does here. 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7719600" y="1586574"/>
            <a:ext cx="29718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7" u="none" cap="none" strike="noStrik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SCHOOL OF COMPUTING </a:t>
            </a:r>
            <a:endParaRPr b="1"/>
          </a:p>
        </p:txBody>
      </p:sp>
      <p:sp>
        <p:nvSpPr>
          <p:cNvPr id="103" name="Google Shape;103;p1"/>
          <p:cNvSpPr txBox="1"/>
          <p:nvPr/>
        </p:nvSpPr>
        <p:spPr>
          <a:xfrm>
            <a:off x="8926374" y="1830345"/>
            <a:ext cx="772523" cy="252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2" u="none" cap="none" strike="noStrike">
                <a:solidFill>
                  <a:srgbClr val="8C52FF"/>
                </a:solidFill>
                <a:latin typeface="Arial"/>
                <a:ea typeface="Arial"/>
                <a:cs typeface="Arial"/>
                <a:sym typeface="Arial"/>
              </a:rPr>
              <a:t>Organizes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3595623" y="9672107"/>
            <a:ext cx="2476179" cy="19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2" u="none" cap="none" strike="noStrike">
                <a:solidFill>
                  <a:srgbClr val="8C52FF"/>
                </a:solidFill>
                <a:latin typeface="Open Sans"/>
                <a:ea typeface="Open Sans"/>
                <a:cs typeface="Open Sans"/>
                <a:sym typeface="Open Sans"/>
              </a:rPr>
              <a:t>COMMUNITY PARTNERS 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9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9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9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9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9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9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9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9"/>
          <p:cNvSpPr txBox="1"/>
          <p:nvPr/>
        </p:nvSpPr>
        <p:spPr>
          <a:xfrm>
            <a:off x="1333500" y="1428750"/>
            <a:ext cx="95250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Meet the Builders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THE TEAM</a:t>
            </a:r>
            <a:endParaRPr b="0" sz="4200">
              <a:solidFill>
                <a:srgbClr val="1E293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118" name="Google Shape;118;p9"/>
          <p:cNvGrpSpPr/>
          <p:nvPr/>
        </p:nvGrpSpPr>
        <p:grpSpPr>
          <a:xfrm>
            <a:off x="1333500" y="2952750"/>
            <a:ext cx="3619500" cy="2381400"/>
            <a:chOff x="0" y="0"/>
            <a:chExt cx="3619500" cy="23814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Team Member 1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/ Title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LinkedIn · Email</a:t>
              </a:r>
              <a:endParaRPr b="0" sz="12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121" name="Google Shape;121;p9"/>
          <p:cNvGrpSpPr/>
          <p:nvPr/>
        </p:nvGrpSpPr>
        <p:grpSpPr>
          <a:xfrm>
            <a:off x="5334000" y="2952750"/>
            <a:ext cx="3619500" cy="2381400"/>
            <a:chOff x="0" y="0"/>
            <a:chExt cx="3619500" cy="2381400"/>
          </a:xfrm>
        </p:grpSpPr>
        <p:sp>
          <p:nvSpPr>
            <p:cNvPr id="122" name="Google Shape;122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Team Member 2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/ Title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LinkedIn · Email</a:t>
              </a:r>
              <a:endParaRPr b="0" sz="12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124" name="Google Shape;124;p9"/>
          <p:cNvGrpSpPr/>
          <p:nvPr/>
        </p:nvGrpSpPr>
        <p:grpSpPr>
          <a:xfrm>
            <a:off x="9334500" y="2952750"/>
            <a:ext cx="3619500" cy="2381400"/>
            <a:chOff x="0" y="0"/>
            <a:chExt cx="3619500" cy="2381400"/>
          </a:xfrm>
        </p:grpSpPr>
        <p:sp>
          <p:nvSpPr>
            <p:cNvPr id="125" name="Google Shape;125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Team Member 3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/ Title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LinkedIn · Email</a:t>
              </a:r>
              <a:endParaRPr b="0" sz="12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127" name="Google Shape;127;p9"/>
          <p:cNvGrpSpPr/>
          <p:nvPr/>
        </p:nvGrpSpPr>
        <p:grpSpPr>
          <a:xfrm>
            <a:off x="13335000" y="2952750"/>
            <a:ext cx="3619500" cy="2381400"/>
            <a:chOff x="0" y="0"/>
            <a:chExt cx="3619500" cy="2381400"/>
          </a:xfrm>
        </p:grpSpPr>
        <p:sp>
          <p:nvSpPr>
            <p:cNvPr id="128" name="Google Shape;128;p9"/>
            <p:cNvSpPr/>
            <p:nvPr/>
          </p:nvSpPr>
          <p:spPr>
            <a:xfrm>
              <a:off x="0" y="0"/>
              <a:ext cx="3619500" cy="23814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 txBox="1"/>
            <p:nvPr/>
          </p:nvSpPr>
          <p:spPr>
            <a:xfrm>
              <a:off x="285750" y="2857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Team Member 4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/ Title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LinkedIn · Email</a:t>
              </a:r>
              <a:endParaRPr b="0" sz="12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5334000" y="5715000"/>
            <a:ext cx="3619500" cy="2095500"/>
            <a:chOff x="0" y="0"/>
            <a:chExt cx="3619500" cy="2095500"/>
          </a:xfrm>
        </p:grpSpPr>
        <p:sp>
          <p:nvSpPr>
            <p:cNvPr id="131" name="Google Shape;131;p9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fmla="val 6818" name="adj"/>
              </a:avLst>
            </a:prstGeom>
            <a:solidFill>
              <a:srgbClr val="F1F5F9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285750" y="285750"/>
              <a:ext cx="762000" cy="266700"/>
            </a:xfrm>
            <a:prstGeom prst="roundRect">
              <a:avLst>
                <a:gd fmla="val 21428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9"/>
            <p:cNvSpPr txBox="1"/>
            <p:nvPr/>
          </p:nvSpPr>
          <p:spPr>
            <a:xfrm>
              <a:off x="285750" y="285750"/>
              <a:ext cx="762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MENTOR</a:t>
              </a:r>
              <a:endParaRPr/>
            </a:p>
          </p:txBody>
        </p:sp>
        <p:sp>
          <p:nvSpPr>
            <p:cNvPr id="134" name="Google Shape;134;p9"/>
            <p:cNvSpPr txBox="1"/>
            <p:nvPr/>
          </p:nvSpPr>
          <p:spPr>
            <a:xfrm>
              <a:off x="285750" y="714375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Mentor Name 1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Organization / Industry Expertise</a:t>
              </a:r>
              <a:endParaRPr b="0" sz="13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135" name="Google Shape;135;p9"/>
          <p:cNvGrpSpPr/>
          <p:nvPr/>
        </p:nvGrpSpPr>
        <p:grpSpPr>
          <a:xfrm>
            <a:off x="9334500" y="5715000"/>
            <a:ext cx="3619500" cy="2095500"/>
            <a:chOff x="0" y="0"/>
            <a:chExt cx="3619500" cy="2095500"/>
          </a:xfrm>
        </p:grpSpPr>
        <p:sp>
          <p:nvSpPr>
            <p:cNvPr id="136" name="Google Shape;136;p9"/>
            <p:cNvSpPr/>
            <p:nvPr/>
          </p:nvSpPr>
          <p:spPr>
            <a:xfrm>
              <a:off x="0" y="0"/>
              <a:ext cx="3619500" cy="2095500"/>
            </a:xfrm>
            <a:prstGeom prst="roundRect">
              <a:avLst>
                <a:gd fmla="val 6818" name="adj"/>
              </a:avLst>
            </a:prstGeom>
            <a:solidFill>
              <a:srgbClr val="F1F5F9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85750" y="285750"/>
              <a:ext cx="762000" cy="266700"/>
            </a:xfrm>
            <a:prstGeom prst="roundRect">
              <a:avLst>
                <a:gd fmla="val 21428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9"/>
            <p:cNvSpPr txBox="1"/>
            <p:nvPr/>
          </p:nvSpPr>
          <p:spPr>
            <a:xfrm>
              <a:off x="285750" y="285750"/>
              <a:ext cx="762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MENTOR</a:t>
              </a:r>
              <a:endParaRPr/>
            </a:p>
          </p:txBody>
        </p:sp>
        <p:sp>
          <p:nvSpPr>
            <p:cNvPr id="139" name="Google Shape;139;p9"/>
            <p:cNvSpPr txBox="1"/>
            <p:nvPr/>
          </p:nvSpPr>
          <p:spPr>
            <a:xfrm>
              <a:off x="285750" y="714375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Mentor Name 2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Organization / Industry Expertise</a:t>
              </a:r>
              <a:endParaRPr b="0" sz="13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8516202" y="1745081"/>
            <a:ext cx="1350846" cy="1220827"/>
          </a:xfrm>
          <a:custGeom>
            <a:rect b="b" l="l" r="r" t="t"/>
            <a:pathLst>
              <a:path extrusionOk="0" h="1220827" w="1350846">
                <a:moveTo>
                  <a:pt x="0" y="0"/>
                </a:moveTo>
                <a:lnTo>
                  <a:pt x="1350846" y="0"/>
                </a:lnTo>
                <a:lnTo>
                  <a:pt x="1350846" y="1220827"/>
                </a:lnTo>
                <a:lnTo>
                  <a:pt x="0" y="1220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2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2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2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2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2"/>
          <p:cNvSpPr txBox="1"/>
          <p:nvPr/>
        </p:nvSpPr>
        <p:spPr>
          <a:xfrm>
            <a:off x="1333500" y="1905000"/>
            <a:ext cx="8810700" cy="74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 b="1" sz="481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4" name="Google Shape;154;p2"/>
          <p:cNvGrpSpPr/>
          <p:nvPr/>
        </p:nvGrpSpPr>
        <p:grpSpPr>
          <a:xfrm>
            <a:off x="1333500" y="3429000"/>
            <a:ext cx="4572000" cy="4000500"/>
            <a:chOff x="0" y="0"/>
            <a:chExt cx="4572000" cy="40005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381000" y="3810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01</a:t>
              </a:r>
              <a:endParaRPr b="0" sz="44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The Problem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Define the specific problem you are addressing. What is the core challenge and pain point?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6477000" y="3429000"/>
            <a:ext cx="4572000" cy="4000500"/>
            <a:chOff x="0" y="0"/>
            <a:chExt cx="4572000" cy="40005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381000" y="3810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02</a:t>
              </a:r>
              <a:endParaRPr b="0" sz="44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Why It Matters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Why is this problem important? Back it up with real-world data, statistics, or metrics if possible.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11620500" y="3429000"/>
            <a:ext cx="4572000" cy="4000500"/>
            <a:chOff x="0" y="0"/>
            <a:chExt cx="4572000" cy="4000500"/>
          </a:xfrm>
        </p:grpSpPr>
        <p:sp>
          <p:nvSpPr>
            <p:cNvPr id="161" name="Google Shape;161;p2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 txBox="1"/>
            <p:nvPr/>
          </p:nvSpPr>
          <p:spPr>
            <a:xfrm>
              <a:off x="381000" y="381000"/>
              <a:ext cx="3810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03</a:t>
              </a:r>
              <a:endParaRPr b="0" sz="44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Who Is Affected?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Who is impacted by this issue? Identify your primary target users, communities, or institutions.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3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3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3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3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3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3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3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3"/>
          <p:cNvSpPr txBox="1"/>
          <p:nvPr/>
        </p:nvSpPr>
        <p:spPr>
          <a:xfrm>
            <a:off x="1352700" y="1760025"/>
            <a:ext cx="88107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OUR APPROACH</a:t>
            </a:r>
            <a:endParaRPr b="1" sz="481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6" name="Google Shape;176;p3"/>
          <p:cNvGrpSpPr/>
          <p:nvPr/>
        </p:nvGrpSpPr>
        <p:grpSpPr>
          <a:xfrm>
            <a:off x="1333500" y="3429000"/>
            <a:ext cx="4572000" cy="4000500"/>
            <a:chOff x="0" y="0"/>
            <a:chExt cx="4572000" cy="40005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3"/>
            <p:cNvGrpSpPr/>
            <p:nvPr/>
          </p:nvGrpSpPr>
          <p:grpSpPr>
            <a:xfrm>
              <a:off x="381000" y="381000"/>
              <a:ext cx="3810000" cy="3238500"/>
              <a:chOff x="0" y="0"/>
              <a:chExt cx="3810000" cy="3238500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3"/>
              <p:cNvSpPr txBox="1"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400">
                    <a:solidFill>
                      <a:srgbClr val="486AFD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01</a:t>
                </a:r>
                <a:endParaRPr b="0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The Idea</a:t>
                </a:r>
                <a:endParaRPr b="1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Your core idea, innovation, or product in one clear statement.</a:t>
                </a:r>
                <a:endParaRPr b="0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81" name="Google Shape;181;p3"/>
          <p:cNvGrpSpPr/>
          <p:nvPr/>
        </p:nvGrpSpPr>
        <p:grpSpPr>
          <a:xfrm>
            <a:off x="6477000" y="3429000"/>
            <a:ext cx="4572000" cy="4000500"/>
            <a:chOff x="0" y="0"/>
            <a:chExt cx="4572000" cy="4000500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3"/>
            <p:cNvGrpSpPr/>
            <p:nvPr/>
          </p:nvGrpSpPr>
          <p:grpSpPr>
            <a:xfrm>
              <a:off x="381000" y="381000"/>
              <a:ext cx="3810000" cy="3238500"/>
              <a:chOff x="0" y="0"/>
              <a:chExt cx="3810000" cy="3238500"/>
            </a:xfrm>
          </p:grpSpPr>
          <p:sp>
            <p:nvSpPr>
              <p:cNvPr id="184" name="Google Shape;184;p3"/>
              <p:cNvSpPr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3"/>
              <p:cNvSpPr txBox="1"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400">
                    <a:solidFill>
                      <a:srgbClr val="486AFD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02</a:t>
                </a:r>
                <a:endParaRPr b="0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How It Works</a:t>
                </a:r>
                <a:endParaRPr b="1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How does it solve the problem — mechanism, workflow, or approach.</a:t>
                </a:r>
                <a:endParaRPr b="0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86" name="Google Shape;186;p3"/>
          <p:cNvGrpSpPr/>
          <p:nvPr/>
        </p:nvGrpSpPr>
        <p:grpSpPr>
          <a:xfrm>
            <a:off x="11620500" y="3429000"/>
            <a:ext cx="4572000" cy="4000500"/>
            <a:chOff x="0" y="0"/>
            <a:chExt cx="4572000" cy="4000500"/>
          </a:xfrm>
        </p:grpSpPr>
        <p:sp>
          <p:nvSpPr>
            <p:cNvPr id="187" name="Google Shape;187;p3"/>
            <p:cNvSpPr/>
            <p:nvPr/>
          </p:nvSpPr>
          <p:spPr>
            <a:xfrm>
              <a:off x="0" y="0"/>
              <a:ext cx="4572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3"/>
            <p:cNvGrpSpPr/>
            <p:nvPr/>
          </p:nvGrpSpPr>
          <p:grpSpPr>
            <a:xfrm>
              <a:off x="381000" y="381000"/>
              <a:ext cx="3810000" cy="3238500"/>
              <a:chOff x="0" y="0"/>
              <a:chExt cx="3810000" cy="3238500"/>
            </a:xfrm>
          </p:grpSpPr>
          <p:sp>
            <p:nvSpPr>
              <p:cNvPr id="189" name="Google Shape;189;p3"/>
              <p:cNvSpPr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3"/>
              <p:cNvSpPr txBox="1"/>
              <p:nvPr/>
            </p:nvSpPr>
            <p:spPr>
              <a:xfrm>
                <a:off x="0" y="0"/>
                <a:ext cx="38100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400">
                    <a:solidFill>
                      <a:srgbClr val="486AFD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03</a:t>
                </a:r>
                <a:endParaRPr b="0" sz="44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Show It Simply</a:t>
                </a:r>
                <a:endParaRPr b="1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 simple diagram or workflow that explains the solution at a glance.</a:t>
                </a:r>
                <a:endParaRPr b="0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4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4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4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4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4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4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4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4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 Innovation &amp; Differentiation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WHAT SETS US APART</a:t>
            </a:r>
            <a:endParaRPr b="0" sz="4200">
              <a:solidFill>
                <a:srgbClr val="1E293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204" name="Google Shape;204;p4"/>
          <p:cNvGrpSpPr/>
          <p:nvPr/>
        </p:nvGrpSpPr>
        <p:grpSpPr>
          <a:xfrm>
            <a:off x="1333500" y="3238500"/>
            <a:ext cx="4953000" cy="4381500"/>
            <a:chOff x="0" y="0"/>
            <a:chExt cx="4953000" cy="4381500"/>
          </a:xfrm>
        </p:grpSpPr>
        <p:sp>
          <p:nvSpPr>
            <p:cNvPr id="205" name="Google Shape;205;p4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Why Our Solution Stands Out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Discover what makes this solution unique and our core competitive advantages across technology, cost, access, and speed.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Open Sans"/>
                <a:buChar char="●"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Uniqueness:</a:t>
              </a:r>
              <a:r>
                <a:rPr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Purpose-built to address critical friction points directly.</a:t>
              </a:r>
              <a:endParaRPr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Open Sans"/>
                <a:buChar char="●"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Advantage:</a:t>
              </a:r>
              <a:r>
                <a:rPr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Scalable tech architecture with a low barrier to entry.</a:t>
              </a:r>
              <a:endParaRPr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Open Sans"/>
                <a:buChar char="●"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Value:</a:t>
              </a:r>
              <a:r>
                <a:rPr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High-speed delivery with sustainable adoption cost.</a:t>
              </a:r>
              <a:endParaRPr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07" name="Google Shape;207;p4"/>
          <p:cNvSpPr/>
          <p:nvPr/>
        </p:nvSpPr>
        <p:spPr>
          <a:xfrm>
            <a:off x="6667500" y="3238500"/>
            <a:ext cx="7810500" cy="43815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4"/>
          <p:cNvCxnSpPr/>
          <p:nvPr/>
        </p:nvCxnSpPr>
        <p:spPr>
          <a:xfrm>
            <a:off x="10572750" y="4191000"/>
            <a:ext cx="0" cy="28575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4"/>
          <p:cNvSpPr txBox="1"/>
          <p:nvPr/>
        </p:nvSpPr>
        <p:spPr>
          <a:xfrm>
            <a:off x="7048500" y="3524250"/>
            <a:ext cx="704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US VS. THE REST</a:t>
            </a:r>
            <a:endParaRPr b="0" sz="1800">
              <a:solidFill>
                <a:srgbClr val="64748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048500" y="4191000"/>
            <a:ext cx="3238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EXISTING SOLUTIONS</a:t>
            </a:r>
            <a:endParaRPr b="1" sz="16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Manual &amp; slow process</a:t>
            </a:r>
            <a:endParaRPr b="1" sz="15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Limited accessibility</a:t>
            </a:r>
            <a:endParaRPr b="1" sz="15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High cost of adoption</a:t>
            </a:r>
            <a:endParaRPr b="1" sz="15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10668000" y="4191000"/>
            <a:ext cx="3238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OUR SOLUTION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Automated &amp; fast</a:t>
            </a:r>
            <a:endParaRPr b="1" sz="160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Built for everyone</a:t>
            </a:r>
            <a:endParaRPr b="1" sz="160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Low-cost &amp; scalable</a:t>
            </a:r>
            <a:endParaRPr b="1" sz="160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5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5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5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5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5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5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5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 Market Potential &amp; Impact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REACH &amp; RELEVANCE</a:t>
            </a:r>
            <a:endParaRPr b="0" sz="4200">
              <a:solidFill>
                <a:srgbClr val="1E293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225" name="Google Shape;225;p5"/>
          <p:cNvGrpSpPr/>
          <p:nvPr/>
        </p:nvGrpSpPr>
        <p:grpSpPr>
          <a:xfrm>
            <a:off x="1333500" y="3238500"/>
            <a:ext cx="4953000" cy="4381500"/>
            <a:chOff x="0" y="0"/>
            <a:chExt cx="4953000" cy="4381500"/>
          </a:xfrm>
        </p:grpSpPr>
        <p:sp>
          <p:nvSpPr>
            <p:cNvPr id="226" name="Google Shape;226;p5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Matters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Summarize the human or economic impact of solving this problem at scale — who benefits, and by how much.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8" name="Google Shape;228;p5"/>
          <p:cNvGrpSpPr/>
          <p:nvPr/>
        </p:nvGrpSpPr>
        <p:grpSpPr>
          <a:xfrm>
            <a:off x="6667500" y="3238500"/>
            <a:ext cx="3143400" cy="4381500"/>
            <a:chOff x="0" y="0"/>
            <a:chExt cx="3143400" cy="4381500"/>
          </a:xfrm>
        </p:grpSpPr>
        <p:sp>
          <p:nvSpPr>
            <p:cNvPr id="229" name="Google Shape;229;p5"/>
            <p:cNvSpPr/>
            <p:nvPr/>
          </p:nvSpPr>
          <p:spPr>
            <a:xfrm>
              <a:off x="0" y="0"/>
              <a:ext cx="3143400" cy="43815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 txBox="1"/>
            <p:nvPr/>
          </p:nvSpPr>
          <p:spPr>
            <a:xfrm>
              <a:off x="285750" y="381000"/>
              <a:ext cx="2571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Target Users</a:t>
              </a:r>
              <a:endParaRPr b="1" sz="20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Who are your target users or customers? Define the primary and secondary audience.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1" name="Google Shape;231;p5"/>
          <p:cNvGrpSpPr/>
          <p:nvPr/>
        </p:nvGrpSpPr>
        <p:grpSpPr>
          <a:xfrm>
            <a:off x="10096500" y="3238500"/>
            <a:ext cx="3143400" cy="4381500"/>
            <a:chOff x="0" y="0"/>
            <a:chExt cx="3143400" cy="4381500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3143400" cy="43815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285750" y="381000"/>
              <a:ext cx="2571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Market Size</a:t>
              </a:r>
              <a:endParaRPr b="1" sz="20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Estimated market size and reach — how big is the opportunity?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13525500" y="3238500"/>
            <a:ext cx="3143400" cy="4381500"/>
            <a:chOff x="0" y="0"/>
            <a:chExt cx="3143400" cy="4381500"/>
          </a:xfrm>
        </p:grpSpPr>
        <p:sp>
          <p:nvSpPr>
            <p:cNvPr id="235" name="Google Shape;235;p5"/>
            <p:cNvSpPr/>
            <p:nvPr/>
          </p:nvSpPr>
          <p:spPr>
            <a:xfrm>
              <a:off x="0" y="0"/>
              <a:ext cx="3143400" cy="43815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285750" y="381000"/>
              <a:ext cx="2571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Expected Impact</a:t>
              </a:r>
              <a:endParaRPr b="1" sz="20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Cost savings, accessibility, or better outcomes your solution unlocks.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6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6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6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6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6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6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6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9" name="Google Shape;249;p6"/>
          <p:cNvGrpSpPr/>
          <p:nvPr/>
        </p:nvGrpSpPr>
        <p:grpSpPr>
          <a:xfrm>
            <a:off x="1333500" y="1714500"/>
            <a:ext cx="9525000" cy="1143000"/>
            <a:chOff x="0" y="0"/>
            <a:chExt cx="9525000" cy="1143000"/>
          </a:xfrm>
        </p:grpSpPr>
        <p:sp>
          <p:nvSpPr>
            <p:cNvPr id="250" name="Google Shape;250;p6"/>
            <p:cNvSpPr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0" y="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SEE IT IN ACTION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52" name="Google Shape;252;p6"/>
          <p:cNvGrpSpPr/>
          <p:nvPr/>
        </p:nvGrpSpPr>
        <p:grpSpPr>
          <a:xfrm>
            <a:off x="1333500" y="3238500"/>
            <a:ext cx="7620000" cy="4381500"/>
            <a:chOff x="0" y="0"/>
            <a:chExt cx="7620000" cy="4381500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7620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, modern user interface mockup of a mobile application dashboard, displaying colorful charts, sleek progress circles, and clean list elements, styled in a professional minimalist tech aesthetic." id="254" name="Google Shape;254;p6"/>
            <p:cNvPicPr preferRelativeResize="0"/>
            <p:nvPr/>
          </p:nvPicPr>
          <p:blipFill rotWithShape="1">
            <a:blip r:embed="rId11">
              <a:alphaModFix/>
            </a:blip>
            <a:srcRect b="3087" l="0" r="0" t="3087"/>
            <a:stretch/>
          </p:blipFill>
          <p:spPr>
            <a:xfrm>
              <a:off x="381000" y="381000"/>
              <a:ext cx="6858000" cy="3619500"/>
            </a:xfrm>
            <a:prstGeom prst="roundRect">
              <a:avLst>
                <a:gd fmla="val 3157" name="adj"/>
              </a:avLst>
            </a:prstGeom>
            <a:noFill/>
            <a:ln>
              <a:noFill/>
            </a:ln>
          </p:spPr>
        </p:pic>
      </p:grpSp>
      <p:grpSp>
        <p:nvGrpSpPr>
          <p:cNvPr id="255" name="Google Shape;255;p6"/>
          <p:cNvGrpSpPr/>
          <p:nvPr/>
        </p:nvGrpSpPr>
        <p:grpSpPr>
          <a:xfrm>
            <a:off x="9334500" y="3238500"/>
            <a:ext cx="7620000" cy="4381500"/>
            <a:chOff x="0" y="0"/>
            <a:chExt cx="7620000" cy="4381500"/>
          </a:xfrm>
        </p:grpSpPr>
        <p:sp>
          <p:nvSpPr>
            <p:cNvPr id="256" name="Google Shape;256;p6"/>
            <p:cNvSpPr/>
            <p:nvPr/>
          </p:nvSpPr>
          <p:spPr>
            <a:xfrm>
              <a:off x="0" y="0"/>
              <a:ext cx="7620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381000" y="381000"/>
              <a:ext cx="6858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Key Features</a:t>
              </a:r>
              <a:endParaRPr b="1" sz="24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 #1:</a:t>
              </a:r>
              <a:r>
                <a:rPr b="1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Describe a core function or capability of your prototype.</a:t>
              </a:r>
              <a:endParaRPr b="1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 #2:</a:t>
              </a:r>
              <a:r>
                <a:rPr b="1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Explain how this feature directly solves a user pain point.</a:t>
              </a:r>
              <a:endParaRPr b="1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 #3:</a:t>
              </a:r>
              <a:r>
                <a:rPr b="1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Detail any unique technology, speed, or design advantages.</a:t>
              </a:r>
              <a:endParaRPr b="1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 #4:</a:t>
              </a:r>
              <a:r>
                <a:rPr b="1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Highlight the user experience and ease of interaction.</a:t>
              </a:r>
              <a:endParaRPr b="1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7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7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7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7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7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7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7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7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Business &amp; Sustainability Model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HOW THIS LIVES ON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1" name="Google Shape;271;p7"/>
          <p:cNvGrpSpPr/>
          <p:nvPr/>
        </p:nvGrpSpPr>
        <p:grpSpPr>
          <a:xfrm>
            <a:off x="1333500" y="3238500"/>
            <a:ext cx="4857900" cy="4381500"/>
            <a:chOff x="0" y="0"/>
            <a:chExt cx="4857900" cy="4381500"/>
          </a:xfrm>
        </p:grpSpPr>
        <p:sp>
          <p:nvSpPr>
            <p:cNvPr id="272" name="Google Shape;272;p7"/>
            <p:cNvSpPr/>
            <p:nvPr/>
          </p:nvSpPr>
          <p:spPr>
            <a:xfrm>
              <a:off x="0" y="0"/>
              <a:ext cx="48579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381000" y="381000"/>
              <a:ext cx="4095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Implementation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How will the solution be implemented and sustained beyond the hackathon? Describe your roll-out plan and scaling strategy.</a:t>
              </a:r>
              <a:endParaRPr b="1" sz="15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4" name="Google Shape;274;p7"/>
          <p:cNvGrpSpPr/>
          <p:nvPr/>
        </p:nvGrpSpPr>
        <p:grpSpPr>
          <a:xfrm>
            <a:off x="6667500" y="3238500"/>
            <a:ext cx="4857900" cy="4381500"/>
            <a:chOff x="0" y="0"/>
            <a:chExt cx="4857900" cy="4381500"/>
          </a:xfrm>
        </p:grpSpPr>
        <p:sp>
          <p:nvSpPr>
            <p:cNvPr id="275" name="Google Shape;275;p7"/>
            <p:cNvSpPr/>
            <p:nvPr/>
          </p:nvSpPr>
          <p:spPr>
            <a:xfrm>
              <a:off x="0" y="0"/>
              <a:ext cx="48579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381000" y="381000"/>
              <a:ext cx="4095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Revenue Model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Any revenue model, funding path, or sustainability plan you have in mind to ensure long-term viability.</a:t>
              </a:r>
              <a:endParaRPr b="1" sz="15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7" name="Google Shape;277;p7"/>
          <p:cNvGrpSpPr/>
          <p:nvPr/>
        </p:nvGrpSpPr>
        <p:grpSpPr>
          <a:xfrm>
            <a:off x="12001500" y="3238500"/>
            <a:ext cx="4857900" cy="4381500"/>
            <a:chOff x="0" y="0"/>
            <a:chExt cx="4857900" cy="4381500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48579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7"/>
            <p:cNvSpPr txBox="1"/>
            <p:nvPr/>
          </p:nvSpPr>
          <p:spPr>
            <a:xfrm>
              <a:off x="381000" y="381000"/>
              <a:ext cx="4095900" cy="361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Partnerships</a:t>
              </a:r>
              <a:endParaRPr b="1" sz="2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Partnerships or key stakeholders needed to bring this solution to life and amplify its ecosystem integration.</a:t>
              </a:r>
              <a:endParaRPr b="1" sz="15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8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8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8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8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8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8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8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8"/>
          <p:cNvGrpSpPr/>
          <p:nvPr/>
        </p:nvGrpSpPr>
        <p:grpSpPr>
          <a:xfrm>
            <a:off x="1333500" y="1524000"/>
            <a:ext cx="9525000" cy="1238400"/>
            <a:chOff x="0" y="0"/>
            <a:chExt cx="9525000" cy="1238400"/>
          </a:xfrm>
        </p:grpSpPr>
        <p:sp>
          <p:nvSpPr>
            <p:cNvPr id="293" name="Google Shape;293;p8"/>
            <p:cNvSpPr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Market Sizing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SIZING THE OPPORTUNITY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5" name="Google Shape;295;p8"/>
          <p:cNvGrpSpPr/>
          <p:nvPr/>
        </p:nvGrpSpPr>
        <p:grpSpPr>
          <a:xfrm>
            <a:off x="1333500" y="3143250"/>
            <a:ext cx="4953000" cy="4381500"/>
            <a:chOff x="0" y="0"/>
            <a:chExt cx="4953000" cy="4381500"/>
          </a:xfrm>
        </p:grpSpPr>
        <p:sp>
          <p:nvSpPr>
            <p:cNvPr id="296" name="Google Shape;296;p8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Total Available Market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TAM</a:t>
              </a:r>
              <a:endParaRPr b="0" sz="2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72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1.9B</a:t>
              </a:r>
              <a:endParaRPr b="0" sz="72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absolute total market demand for the product or service, representing the entire global opportunity.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8" name="Google Shape;298;p8"/>
          <p:cNvGrpSpPr/>
          <p:nvPr/>
        </p:nvGrpSpPr>
        <p:grpSpPr>
          <a:xfrm>
            <a:off x="6667500" y="3143250"/>
            <a:ext cx="4953000" cy="4381500"/>
            <a:chOff x="0" y="0"/>
            <a:chExt cx="4953000" cy="4381500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Serviceable Available Market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SAM</a:t>
              </a:r>
              <a:endParaRPr b="0" sz="2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72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53M</a:t>
              </a:r>
              <a:endParaRPr b="0" sz="72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specific segment of the total market that we can realistically target and serve with our business model.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12001500" y="3143250"/>
            <a:ext cx="4953000" cy="4381500"/>
            <a:chOff x="0" y="0"/>
            <a:chExt cx="4953000" cy="4381500"/>
          </a:xfrm>
        </p:grpSpPr>
        <p:sp>
          <p:nvSpPr>
            <p:cNvPr id="302" name="Google Shape;302;p8"/>
            <p:cNvSpPr/>
            <p:nvPr/>
          </p:nvSpPr>
          <p:spPr>
            <a:xfrm>
              <a:off x="0" y="0"/>
              <a:ext cx="4953000" cy="4381500"/>
            </a:xfrm>
            <a:prstGeom prst="roundRect">
              <a:avLst>
                <a:gd fmla="val 43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381000" y="381000"/>
              <a:ext cx="4191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Serviceable Obtainable Market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SOM</a:t>
              </a:r>
              <a:endParaRPr b="0" sz="2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72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10.6M</a:t>
              </a:r>
              <a:endParaRPr b="0" sz="72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Our short-term target within the next year—the share of the market we expect to realistically capture first.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1333500" y="7905750"/>
            <a:ext cx="15621000" cy="762000"/>
            <a:chOff x="0" y="0"/>
            <a:chExt cx="15621000" cy="762000"/>
          </a:xfrm>
        </p:grpSpPr>
        <p:sp>
          <p:nvSpPr>
            <p:cNvPr id="305" name="Google Shape;305;p8"/>
            <p:cNvSpPr/>
            <p:nvPr/>
          </p:nvSpPr>
          <p:spPr>
            <a:xfrm>
              <a:off x="0" y="0"/>
              <a:ext cx="15621000" cy="762000"/>
            </a:xfrm>
            <a:prstGeom prst="roundRect">
              <a:avLst>
                <a:gd fmla="val 125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285750" y="142875"/>
              <a:ext cx="1504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FUNNEL LOGIC:</a:t>
              </a:r>
              <a:r>
                <a:rPr b="0" lang="en-US" sz="130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 TAM (the whole market)  ➔  SAM (the segment you can realistically serve)  ➔  SOM (what you can capture in year one).</a:t>
              </a:r>
              <a:endParaRPr b="0" sz="130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f80270db7c_0_28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3" y="43647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80270db7c_0_2884"/>
          <p:cNvSpPr/>
          <p:nvPr/>
        </p:nvSpPr>
        <p:spPr>
          <a:xfrm>
            <a:off x="17621250" y="1905000"/>
            <a:ext cx="666900" cy="952500"/>
          </a:xfrm>
          <a:custGeom>
            <a:rect b="b" l="l" r="r" t="t"/>
            <a:pathLst>
              <a:path extrusionOk="0" h="120000" w="120000">
                <a:moveTo>
                  <a:pt x="120000" y="0"/>
                </a:moveTo>
                <a:lnTo>
                  <a:pt x="0" y="24000"/>
                </a:lnTo>
                <a:lnTo>
                  <a:pt x="85714" y="120000"/>
                </a:lnTo>
                <a:close/>
              </a:path>
            </a:pathLst>
          </a:custGeom>
          <a:solidFill>
            <a:srgbClr val="A855F7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80270db7c_0_2884"/>
          <p:cNvSpPr/>
          <p:nvPr/>
        </p:nvSpPr>
        <p:spPr>
          <a:xfrm>
            <a:off x="87300" y="7620000"/>
            <a:ext cx="1246200" cy="23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quadBezTo>
                  <a:pt x="120000" y="24000"/>
                  <a:pt x="75000" y="72000"/>
                </a:quadBezTo>
                <a:lnTo>
                  <a:pt x="0" y="120000"/>
                </a:lnTo>
                <a:close/>
              </a:path>
            </a:pathLst>
          </a:custGeom>
          <a:solidFill>
            <a:srgbClr val="3B82F6">
              <a:alpha val="1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80270db7c_0_2884"/>
          <p:cNvSpPr txBox="1"/>
          <p:nvPr/>
        </p:nvSpPr>
        <p:spPr>
          <a:xfrm>
            <a:off x="1333500" y="1428750"/>
            <a:ext cx="9525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rPr>
              <a:t>Where We're Headed</a:t>
            </a:r>
            <a:endParaRPr b="1" sz="16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ROADMAP &amp; NEXT STEPS</a:t>
            </a:r>
            <a:endParaRPr b="0" sz="4200">
              <a:solidFill>
                <a:srgbClr val="1E293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315" name="Google Shape;315;g3f80270db7c_0_2884"/>
          <p:cNvGrpSpPr/>
          <p:nvPr/>
        </p:nvGrpSpPr>
        <p:grpSpPr>
          <a:xfrm>
            <a:off x="1333500" y="3238500"/>
            <a:ext cx="3619500" cy="4381500"/>
            <a:chOff x="0" y="0"/>
            <a:chExt cx="3619500" cy="4381500"/>
          </a:xfrm>
        </p:grpSpPr>
        <p:sp>
          <p:nvSpPr>
            <p:cNvPr id="316" name="Google Shape;316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01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STEP 1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Month 2026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Describe this milestone and what it unlocks for your product's development and scaling.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8" name="Google Shape;318;g3f80270db7c_0_2884"/>
          <p:cNvGrpSpPr/>
          <p:nvPr/>
        </p:nvGrpSpPr>
        <p:grpSpPr>
          <a:xfrm>
            <a:off x="5334000" y="3238500"/>
            <a:ext cx="3619500" cy="4381500"/>
            <a:chOff x="0" y="0"/>
            <a:chExt cx="3619500" cy="4381500"/>
          </a:xfrm>
        </p:grpSpPr>
        <p:sp>
          <p:nvSpPr>
            <p:cNvPr id="319" name="Google Shape;319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02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STEP 2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Month 2026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Describe this milestone and what it unlocks for your product's development and scaling.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1" name="Google Shape;321;g3f80270db7c_0_2884"/>
          <p:cNvGrpSpPr/>
          <p:nvPr/>
        </p:nvGrpSpPr>
        <p:grpSpPr>
          <a:xfrm>
            <a:off x="9334500" y="3238500"/>
            <a:ext cx="3619500" cy="4381500"/>
            <a:chOff x="0" y="0"/>
            <a:chExt cx="3619500" cy="4381500"/>
          </a:xfrm>
        </p:grpSpPr>
        <p:sp>
          <p:nvSpPr>
            <p:cNvPr id="322" name="Google Shape;322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03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STEP 3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Month 2026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Describe this milestone and what it unlocks for your product's development and scaling.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4" name="Google Shape;324;g3f80270db7c_0_2884"/>
          <p:cNvGrpSpPr/>
          <p:nvPr/>
        </p:nvGrpSpPr>
        <p:grpSpPr>
          <a:xfrm>
            <a:off x="13335000" y="3238500"/>
            <a:ext cx="3619500" cy="4381500"/>
            <a:chOff x="0" y="0"/>
            <a:chExt cx="3619500" cy="4381500"/>
          </a:xfrm>
        </p:grpSpPr>
        <p:sp>
          <p:nvSpPr>
            <p:cNvPr id="325" name="Google Shape;325;g3f80270db7c_0_2884"/>
            <p:cNvSpPr/>
            <p:nvPr/>
          </p:nvSpPr>
          <p:spPr>
            <a:xfrm>
              <a:off x="0" y="0"/>
              <a:ext cx="3619500" cy="4381500"/>
            </a:xfrm>
            <a:prstGeom prst="roundRect">
              <a:avLst>
                <a:gd fmla="val 526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g3f80270db7c_0_2884"/>
            <p:cNvSpPr txBox="1"/>
            <p:nvPr/>
          </p:nvSpPr>
          <p:spPr>
            <a:xfrm>
              <a:off x="381000" y="381000"/>
              <a:ext cx="2857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04</a:t>
              </a:r>
              <a:endParaRPr b="0" sz="36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STEP 4</a:t>
              </a:r>
              <a:endParaRPr b="0" sz="20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Month 2026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Describe this milestone and what it unlocks for your product's development and scaling.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7" name="Google Shape;327;g3f80270db7c_0_2884"/>
          <p:cNvGrpSpPr/>
          <p:nvPr/>
        </p:nvGrpSpPr>
        <p:grpSpPr>
          <a:xfrm>
            <a:off x="1333500" y="7905750"/>
            <a:ext cx="15621000" cy="762000"/>
            <a:chOff x="0" y="0"/>
            <a:chExt cx="15621000" cy="762000"/>
          </a:xfrm>
        </p:grpSpPr>
        <p:sp>
          <p:nvSpPr>
            <p:cNvPr id="328" name="Google Shape;328;g3f80270db7c_0_2884"/>
            <p:cNvSpPr/>
            <p:nvPr/>
          </p:nvSpPr>
          <p:spPr>
            <a:xfrm>
              <a:off x="0" y="0"/>
              <a:ext cx="15621000" cy="762000"/>
            </a:xfrm>
            <a:prstGeom prst="roundRect">
              <a:avLst>
                <a:gd fmla="val 125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g3f80270db7c_0_2884"/>
            <p:cNvSpPr txBox="1"/>
            <p:nvPr/>
          </p:nvSpPr>
          <p:spPr>
            <a:xfrm>
              <a:off x="285750" y="190500"/>
              <a:ext cx="1504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VISION &amp; MOMENTUM: </a:t>
              </a:r>
              <a:r>
                <a:rPr b="0" lang="en-US" sz="130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A structured path designed to transform our hackathon prototype into a fully realized market solution.</a:t>
              </a:r>
              <a:endParaRPr b="1" sz="13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0" name="Google Shape;330;g3f80270db7c_0_2884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g3f80270db7c_0_2884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g3f80270db7c_0_2884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g3f80270db7c_0_2884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g3f80270db7c_0_2884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g3f80270db7c_0_2884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g3f80270db7c_0_2884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g3f80270db7c_0_2884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ec2d9a0a_0_0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g3f4ec2d9a0a_0_0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g3f4ec2d9a0a_0_0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g3f4ec2d9a0a_0_0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g3f4ec2d9a0a_0_0"/>
          <p:cNvSpPr/>
          <p:nvPr/>
        </p:nvSpPr>
        <p:spPr>
          <a:xfrm>
            <a:off x="16679493" y="2500431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g3f4ec2d9a0a_0_0"/>
          <p:cNvSpPr/>
          <p:nvPr/>
        </p:nvSpPr>
        <p:spPr>
          <a:xfrm rot="1952229">
            <a:off x="16582574" y="3024474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g3f4ec2d9a0a_0_0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g3f4ec2d9a0a_0_0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0" name="Google Shape;350;g3f4ec2d9a0a_0_0"/>
          <p:cNvGrpSpPr/>
          <p:nvPr/>
        </p:nvGrpSpPr>
        <p:grpSpPr>
          <a:xfrm>
            <a:off x="1333500" y="1428750"/>
            <a:ext cx="9525000" cy="1238400"/>
            <a:chOff x="0" y="0"/>
            <a:chExt cx="9525000" cy="1238400"/>
          </a:xfrm>
        </p:grpSpPr>
        <p:sp>
          <p:nvSpPr>
            <p:cNvPr id="351" name="Google Shape;351;g3f4ec2d9a0a_0_0"/>
            <p:cNvSpPr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f4ec2d9a0a_0_0"/>
            <p:cNvSpPr txBox="1"/>
            <p:nvPr/>
          </p:nvSpPr>
          <p:spPr>
            <a:xfrm>
              <a:off x="0" y="0"/>
              <a:ext cx="9525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Interactive Preview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PROTOTYPE &amp; LIVE DEMO</a:t>
              </a:r>
              <a:endParaRPr b="1" sz="16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53" name="Google Shape;353;g3f4ec2d9a0a_0_0"/>
          <p:cNvGrpSpPr/>
          <p:nvPr/>
        </p:nvGrpSpPr>
        <p:grpSpPr>
          <a:xfrm>
            <a:off x="1355200" y="3095700"/>
            <a:ext cx="7810500" cy="4381500"/>
            <a:chOff x="-7788800" y="-47550"/>
            <a:chExt cx="7810500" cy="4381500"/>
          </a:xfrm>
        </p:grpSpPr>
        <p:sp>
          <p:nvSpPr>
            <p:cNvPr id="354" name="Google Shape;354;g3f4ec2d9a0a_0_0"/>
            <p:cNvSpPr/>
            <p:nvPr/>
          </p:nvSpPr>
          <p:spPr>
            <a:xfrm>
              <a:off x="-7788800" y="-47550"/>
              <a:ext cx="7810500" cy="4381500"/>
            </a:xfrm>
            <a:prstGeom prst="roundRect">
              <a:avLst>
                <a:gd fmla="val 4345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g3f4ec2d9a0a_0_0"/>
            <p:cNvSpPr txBox="1"/>
            <p:nvPr/>
          </p:nvSpPr>
          <p:spPr>
            <a:xfrm>
              <a:off x="-7407800" y="190500"/>
              <a:ext cx="70485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Live Access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EXPLORE THE RUNNING SOLUTION</a:t>
              </a:r>
              <a:endParaRPr b="1" sz="14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Scan the code or click the direct link below to launch the live interactive web demo built during HackFusion 2026.</a:t>
              </a:r>
              <a:endParaRPr b="0" sz="14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(P</a:t>
              </a:r>
              <a:r>
                <a:rPr lang="en-US" sz="20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aste the project link here)</a:t>
              </a:r>
              <a:r>
                <a:rPr b="0" lang="en-US" sz="2000">
                  <a:solidFill>
                    <a:srgbClr val="486AF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 </a:t>
              </a:r>
              <a:endParaRPr b="0" sz="2000">
                <a:solidFill>
                  <a:srgbClr val="486AF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Click above or enter in browser to view</a:t>
              </a:r>
              <a:endParaRPr b="0" sz="12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0270db7c_0_34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80270db7c_0_3481"/>
          <p:cNvSpPr/>
          <p:nvPr/>
        </p:nvSpPr>
        <p:spPr>
          <a:xfrm>
            <a:off x="17907000" y="2362200"/>
            <a:ext cx="247800" cy="438300"/>
          </a:xfrm>
          <a:custGeom>
            <a:rect b="b" l="l" r="r" t="t"/>
            <a:pathLst>
              <a:path extrusionOk="0" h="120000" w="120000">
                <a:moveTo>
                  <a:pt x="46154" y="0"/>
                </a:moveTo>
                <a:lnTo>
                  <a:pt x="120000" y="26087"/>
                </a:lnTo>
                <a:lnTo>
                  <a:pt x="55385" y="120000"/>
                </a:lnTo>
                <a:lnTo>
                  <a:pt x="0" y="782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80270db7c_0_3481"/>
          <p:cNvSpPr/>
          <p:nvPr/>
        </p:nvSpPr>
        <p:spPr>
          <a:xfrm>
            <a:off x="-2619375" y="4371975"/>
            <a:ext cx="190500" cy="1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35294"/>
                </a:lnTo>
                <a:lnTo>
                  <a:pt x="6000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80270db7c_0_3481"/>
          <p:cNvSpPr txBox="1"/>
          <p:nvPr/>
        </p:nvSpPr>
        <p:spPr>
          <a:xfrm>
            <a:off x="1333500" y="1524000"/>
            <a:ext cx="9525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86AF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6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THANK YOU</a:t>
            </a:r>
            <a:endParaRPr b="0" sz="6400">
              <a:solidFill>
                <a:srgbClr val="1E293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64" name="Google Shape;364;g3f80270db7c_0_3481"/>
          <p:cNvSpPr txBox="1"/>
          <p:nvPr/>
        </p:nvSpPr>
        <p:spPr>
          <a:xfrm>
            <a:off x="1333500" y="32385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Have questions or want to collaborate? Let's build the future together.</a:t>
            </a:r>
            <a:endParaRPr b="0" sz="1800">
              <a:solidFill>
                <a:srgbClr val="64748B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365" name="Google Shape;365;g3f80270db7c_0_3481"/>
          <p:cNvGrpSpPr/>
          <p:nvPr/>
        </p:nvGrpSpPr>
        <p:grpSpPr>
          <a:xfrm>
            <a:off x="1333500" y="4381500"/>
            <a:ext cx="4953000" cy="2286000"/>
            <a:chOff x="0" y="0"/>
            <a:chExt cx="4953000" cy="2286000"/>
          </a:xfrm>
        </p:grpSpPr>
        <p:sp>
          <p:nvSpPr>
            <p:cNvPr id="366" name="Google Shape;366;g3f80270db7c_0_3481"/>
            <p:cNvSpPr/>
            <p:nvPr/>
          </p:nvSpPr>
          <p:spPr>
            <a:xfrm>
              <a:off x="0" y="0"/>
              <a:ext cx="4953000" cy="22860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7" name="Google Shape;367;g3f80270db7c_0_3481"/>
            <p:cNvGrpSpPr/>
            <p:nvPr/>
          </p:nvGrpSpPr>
          <p:grpSpPr>
            <a:xfrm>
              <a:off x="381000" y="381000"/>
              <a:ext cx="762000" cy="285900"/>
              <a:chOff x="0" y="0"/>
              <a:chExt cx="762000" cy="285900"/>
            </a:xfrm>
          </p:grpSpPr>
          <p:sp>
            <p:nvSpPr>
              <p:cNvPr id="368" name="Google Shape;368;g3f80270db7c_0_3481"/>
              <p:cNvSpPr/>
              <p:nvPr/>
            </p:nvSpPr>
            <p:spPr>
              <a:xfrm>
                <a:off x="0" y="0"/>
                <a:ext cx="762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g3f80270db7c_0_3481"/>
              <p:cNvSpPr txBox="1"/>
              <p:nvPr/>
            </p:nvSpPr>
            <p:spPr>
              <a:xfrm>
                <a:off x="0" y="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475569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EMAIL</a:t>
                </a:r>
                <a:endParaRPr b="0" sz="12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</p:txBody>
          </p:sp>
        </p:grpSp>
        <p:sp>
          <p:nvSpPr>
            <p:cNvPr id="370" name="Google Shape;370;g3f80270db7c_0_3481"/>
            <p:cNvSpPr txBox="1"/>
            <p:nvPr/>
          </p:nvSpPr>
          <p:spPr>
            <a:xfrm>
              <a:off x="381000" y="95250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team@email.com</a:t>
              </a:r>
              <a:endParaRPr b="0" sz="2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Drop us a line anytime</a:t>
              </a:r>
              <a:endParaRPr b="1" sz="18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1" name="Google Shape;371;g3f80270db7c_0_3481"/>
          <p:cNvGrpSpPr/>
          <p:nvPr/>
        </p:nvGrpSpPr>
        <p:grpSpPr>
          <a:xfrm>
            <a:off x="6667500" y="4381500"/>
            <a:ext cx="4953000" cy="2286000"/>
            <a:chOff x="0" y="0"/>
            <a:chExt cx="4953000" cy="2286000"/>
          </a:xfrm>
        </p:grpSpPr>
        <p:sp>
          <p:nvSpPr>
            <p:cNvPr id="372" name="Google Shape;372;g3f80270db7c_0_3481"/>
            <p:cNvSpPr/>
            <p:nvPr/>
          </p:nvSpPr>
          <p:spPr>
            <a:xfrm>
              <a:off x="0" y="0"/>
              <a:ext cx="4953000" cy="22860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3" name="Google Shape;373;g3f80270db7c_0_3481"/>
            <p:cNvGrpSpPr/>
            <p:nvPr/>
          </p:nvGrpSpPr>
          <p:grpSpPr>
            <a:xfrm>
              <a:off x="381000" y="381000"/>
              <a:ext cx="762000" cy="285900"/>
              <a:chOff x="0" y="0"/>
              <a:chExt cx="762000" cy="285900"/>
            </a:xfrm>
          </p:grpSpPr>
          <p:sp>
            <p:nvSpPr>
              <p:cNvPr id="374" name="Google Shape;374;g3f80270db7c_0_3481"/>
              <p:cNvSpPr/>
              <p:nvPr/>
            </p:nvSpPr>
            <p:spPr>
              <a:xfrm>
                <a:off x="0" y="0"/>
                <a:ext cx="762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g3f80270db7c_0_3481"/>
              <p:cNvSpPr txBox="1"/>
              <p:nvPr/>
            </p:nvSpPr>
            <p:spPr>
              <a:xfrm>
                <a:off x="0" y="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475569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SOCIAL</a:t>
                </a:r>
                <a:endParaRPr b="0" sz="12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</p:txBody>
          </p:sp>
        </p:grpSp>
        <p:sp>
          <p:nvSpPr>
            <p:cNvPr id="376" name="Google Shape;376;g3f80270db7c_0_3481"/>
            <p:cNvSpPr txBox="1"/>
            <p:nvPr/>
          </p:nvSpPr>
          <p:spPr>
            <a:xfrm>
              <a:off x="381000" y="95250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@yourteam</a:t>
              </a:r>
              <a:endParaRPr b="0" sz="2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Follow our updates</a:t>
              </a:r>
              <a:endParaRPr b="1" sz="18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7" name="Google Shape;377;g3f80270db7c_0_3481"/>
          <p:cNvGrpSpPr/>
          <p:nvPr/>
        </p:nvGrpSpPr>
        <p:grpSpPr>
          <a:xfrm>
            <a:off x="12001500" y="4381500"/>
            <a:ext cx="4953000" cy="2286000"/>
            <a:chOff x="0" y="0"/>
            <a:chExt cx="4953000" cy="2286000"/>
          </a:xfrm>
        </p:grpSpPr>
        <p:sp>
          <p:nvSpPr>
            <p:cNvPr id="378" name="Google Shape;378;g3f80270db7c_0_3481"/>
            <p:cNvSpPr/>
            <p:nvPr/>
          </p:nvSpPr>
          <p:spPr>
            <a:xfrm>
              <a:off x="0" y="0"/>
              <a:ext cx="4953000" cy="22860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9" name="Google Shape;379;g3f80270db7c_0_3481"/>
            <p:cNvGrpSpPr/>
            <p:nvPr/>
          </p:nvGrpSpPr>
          <p:grpSpPr>
            <a:xfrm>
              <a:off x="381000" y="381000"/>
              <a:ext cx="762000" cy="285900"/>
              <a:chOff x="0" y="0"/>
              <a:chExt cx="762000" cy="285900"/>
            </a:xfrm>
          </p:grpSpPr>
          <p:sp>
            <p:nvSpPr>
              <p:cNvPr id="380" name="Google Shape;380;g3f80270db7c_0_3481"/>
              <p:cNvSpPr/>
              <p:nvPr/>
            </p:nvSpPr>
            <p:spPr>
              <a:xfrm>
                <a:off x="0" y="0"/>
                <a:ext cx="762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g3f80270db7c_0_3481"/>
              <p:cNvSpPr txBox="1"/>
              <p:nvPr/>
            </p:nvSpPr>
            <p:spPr>
              <a:xfrm>
                <a:off x="0" y="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475569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PHONE</a:t>
                </a:r>
                <a:endParaRPr b="0" sz="1200">
                  <a:solidFill>
                    <a:srgbClr val="475569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</p:txBody>
          </p:sp>
        </p:grpSp>
        <p:sp>
          <p:nvSpPr>
            <p:cNvPr id="382" name="Google Shape;382;g3f80270db7c_0_3481"/>
            <p:cNvSpPr txBox="1"/>
            <p:nvPr/>
          </p:nvSpPr>
          <p:spPr>
            <a:xfrm>
              <a:off x="381000" y="952500"/>
              <a:ext cx="419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1E293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+91 00000 00000</a:t>
              </a:r>
              <a:endParaRPr b="0" sz="2400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486AFD"/>
                  </a:solidFill>
                  <a:latin typeface="Open Sans"/>
                  <a:ea typeface="Open Sans"/>
                  <a:cs typeface="Open Sans"/>
                  <a:sym typeface="Open Sans"/>
                </a:rPr>
                <a:t>Let's talk directly</a:t>
              </a:r>
              <a:endParaRPr b="1" sz="18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83" name="Google Shape;383;g3f80270db7c_0_3481"/>
          <p:cNvGrpSpPr/>
          <p:nvPr/>
        </p:nvGrpSpPr>
        <p:grpSpPr>
          <a:xfrm>
            <a:off x="1333500" y="7239000"/>
            <a:ext cx="15621000" cy="952500"/>
            <a:chOff x="0" y="0"/>
            <a:chExt cx="15621000" cy="952500"/>
          </a:xfrm>
        </p:grpSpPr>
        <p:sp>
          <p:nvSpPr>
            <p:cNvPr id="384" name="Google Shape;384;g3f80270db7c_0_3481"/>
            <p:cNvSpPr/>
            <p:nvPr/>
          </p:nvSpPr>
          <p:spPr>
            <a:xfrm>
              <a:off x="0" y="0"/>
              <a:ext cx="15621000" cy="952500"/>
            </a:xfrm>
            <a:prstGeom prst="roundRect">
              <a:avLst>
                <a:gd fmla="val 1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f80270db7c_0_3481"/>
            <p:cNvSpPr txBox="1"/>
            <p:nvPr/>
          </p:nvSpPr>
          <p:spPr>
            <a:xfrm>
              <a:off x="381000" y="238125"/>
              <a:ext cx="1485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HACKFUSION 2026: </a:t>
              </a:r>
              <a:r>
                <a:rPr b="0" lang="en-US" sz="1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Thank you for your time and feedback. Let's build momentum.</a:t>
              </a:r>
              <a:endParaRPr b="1" sz="1800">
                <a:solidFill>
                  <a:srgbClr val="486A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6" name="Google Shape;386;g3f80270db7c_0_3481"/>
          <p:cNvSpPr/>
          <p:nvPr/>
        </p:nvSpPr>
        <p:spPr>
          <a:xfrm>
            <a:off x="190500" y="-57150"/>
            <a:ext cx="5076900" cy="175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80270db7c_0_3481"/>
          <p:cNvSpPr/>
          <p:nvPr/>
        </p:nvSpPr>
        <p:spPr>
          <a:xfrm>
            <a:off x="14792325" y="438150"/>
            <a:ext cx="3133800" cy="76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80270db7c_0_3481"/>
          <p:cNvSpPr/>
          <p:nvPr/>
        </p:nvSpPr>
        <p:spPr>
          <a:xfrm>
            <a:off x="16678275" y="2495550"/>
            <a:ext cx="1962300" cy="187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80270db7c_0_3481"/>
          <p:cNvSpPr/>
          <p:nvPr/>
        </p:nvSpPr>
        <p:spPr>
          <a:xfrm>
            <a:off x="17735550" y="6267450"/>
            <a:ext cx="885900" cy="752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80270db7c_0_3481"/>
          <p:cNvSpPr/>
          <p:nvPr/>
        </p:nvSpPr>
        <p:spPr>
          <a:xfrm>
            <a:off x="16049625" y="8943975"/>
            <a:ext cx="2124000" cy="1409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80270db7c_0_3481"/>
          <p:cNvSpPr/>
          <p:nvPr/>
        </p:nvSpPr>
        <p:spPr>
          <a:xfrm>
            <a:off x="199210" y="-57150"/>
            <a:ext cx="5267831" cy="1755944"/>
          </a:xfrm>
          <a:custGeom>
            <a:rect b="b" l="l" r="r" t="t"/>
            <a:pathLst>
              <a:path extrusionOk="0" h="1755944" w="5267831">
                <a:moveTo>
                  <a:pt x="0" y="0"/>
                </a:moveTo>
                <a:lnTo>
                  <a:pt x="5267831" y="0"/>
                </a:lnTo>
                <a:lnTo>
                  <a:pt x="5267831" y="1755944"/>
                </a:lnTo>
                <a:lnTo>
                  <a:pt x="0" y="1755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2" name="Google Shape;392;g3f80270db7c_0_3481"/>
          <p:cNvSpPr/>
          <p:nvPr/>
        </p:nvSpPr>
        <p:spPr>
          <a:xfrm>
            <a:off x="14799394" y="438739"/>
            <a:ext cx="3140410" cy="764166"/>
          </a:xfrm>
          <a:custGeom>
            <a:rect b="b" l="l" r="r" t="t"/>
            <a:pathLst>
              <a:path extrusionOk="0" h="764166" w="3140410">
                <a:moveTo>
                  <a:pt x="0" y="0"/>
                </a:moveTo>
                <a:lnTo>
                  <a:pt x="3140410" y="0"/>
                </a:lnTo>
                <a:lnTo>
                  <a:pt x="3140410" y="764166"/>
                </a:lnTo>
                <a:lnTo>
                  <a:pt x="0" y="764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g3f80270db7c_0_3481"/>
          <p:cNvSpPr/>
          <p:nvPr/>
        </p:nvSpPr>
        <p:spPr>
          <a:xfrm rot="744277">
            <a:off x="-3111650" y="4768904"/>
            <a:ext cx="4072028" cy="4118360"/>
          </a:xfrm>
          <a:custGeom>
            <a:rect b="b" l="l" r="r" t="t"/>
            <a:pathLst>
              <a:path extrusionOk="0"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g3f80270db7c_0_3481"/>
          <p:cNvSpPr/>
          <p:nvPr/>
        </p:nvSpPr>
        <p:spPr>
          <a:xfrm rot="1770831">
            <a:off x="-1789340" y="7446447"/>
            <a:ext cx="3076965" cy="2092337"/>
          </a:xfrm>
          <a:custGeom>
            <a:rect b="b" l="l" r="r" t="t"/>
            <a:pathLst>
              <a:path extrusionOk="0" h="2092906" w="3077802">
                <a:moveTo>
                  <a:pt x="0" y="0"/>
                </a:moveTo>
                <a:lnTo>
                  <a:pt x="3077802" y="0"/>
                </a:lnTo>
                <a:lnTo>
                  <a:pt x="3077802" y="2092906"/>
                </a:lnTo>
                <a:lnTo>
                  <a:pt x="0" y="209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g3f80270db7c_0_3481"/>
          <p:cNvSpPr/>
          <p:nvPr/>
        </p:nvSpPr>
        <p:spPr>
          <a:xfrm>
            <a:off x="16675643" y="2362193"/>
            <a:ext cx="1967557" cy="1879180"/>
          </a:xfrm>
          <a:custGeom>
            <a:rect b="b" l="l" r="r" t="t"/>
            <a:pathLst>
              <a:path extrusionOk="0" h="1879180" w="1967557">
                <a:moveTo>
                  <a:pt x="0" y="0"/>
                </a:moveTo>
                <a:lnTo>
                  <a:pt x="1967557" y="0"/>
                </a:lnTo>
                <a:lnTo>
                  <a:pt x="1967557" y="1879180"/>
                </a:lnTo>
                <a:lnTo>
                  <a:pt x="0" y="187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g3f80270db7c_0_3481"/>
          <p:cNvSpPr/>
          <p:nvPr/>
        </p:nvSpPr>
        <p:spPr>
          <a:xfrm rot="1952229">
            <a:off x="16582574" y="2966962"/>
            <a:ext cx="3681941" cy="4213954"/>
          </a:xfrm>
          <a:custGeom>
            <a:rect b="b" l="l" r="r" t="t"/>
            <a:pathLst>
              <a:path extrusionOk="0" h="4216669" w="3684314">
                <a:moveTo>
                  <a:pt x="0" y="0"/>
                </a:moveTo>
                <a:lnTo>
                  <a:pt x="3684314" y="0"/>
                </a:lnTo>
                <a:lnTo>
                  <a:pt x="3684314" y="4216669"/>
                </a:lnTo>
                <a:lnTo>
                  <a:pt x="0" y="4216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g3f80270db7c_0_3481"/>
          <p:cNvSpPr/>
          <p:nvPr/>
        </p:nvSpPr>
        <p:spPr>
          <a:xfrm>
            <a:off x="17736411" y="6274217"/>
            <a:ext cx="891716" cy="754202"/>
          </a:xfrm>
          <a:custGeom>
            <a:rect b="b" l="l" r="r" t="t"/>
            <a:pathLst>
              <a:path extrusionOk="0" h="754202" w="891716">
                <a:moveTo>
                  <a:pt x="0" y="0"/>
                </a:moveTo>
                <a:lnTo>
                  <a:pt x="891716" y="0"/>
                </a:lnTo>
                <a:lnTo>
                  <a:pt x="891716" y="754202"/>
                </a:lnTo>
                <a:lnTo>
                  <a:pt x="0" y="754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g3f80270db7c_0_3481"/>
          <p:cNvSpPr/>
          <p:nvPr/>
        </p:nvSpPr>
        <p:spPr>
          <a:xfrm>
            <a:off x="16056873" y="8944972"/>
            <a:ext cx="2125396" cy="1416931"/>
          </a:xfrm>
          <a:custGeom>
            <a:rect b="b" l="l" r="r" t="t"/>
            <a:pathLst>
              <a:path extrusionOk="0" h="1416931" w="2125396">
                <a:moveTo>
                  <a:pt x="0" y="0"/>
                </a:moveTo>
                <a:lnTo>
                  <a:pt x="2125396" y="0"/>
                </a:lnTo>
                <a:lnTo>
                  <a:pt x="2125396" y="1416931"/>
                </a:lnTo>
                <a:lnTo>
                  <a:pt x="0" y="141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