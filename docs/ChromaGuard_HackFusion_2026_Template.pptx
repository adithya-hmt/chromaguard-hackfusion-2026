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0287000" cx="18288000"/>
  <p:notesSz cx="6858000" cy="9144000"/>
  <p:embeddedFontLst>
    <p:embeddedFont>
      <p:font typeface="League Spartan"/>
      <p:regular r:id="rId18"/>
      <p:bold r:id="rId19"/>
    </p:embeddedFont>
    <p:embeddedFont>
      <p:font typeface="Open Sans SemiBold"/>
      <p:regular r:id="rId20"/>
      <p:bold r:id="rId21"/>
      <p:italic r:id="rId22"/>
      <p:boldItalic r:id="rId23"/>
    </p:embeddedFont>
    <p:embeddedFont>
      <p:font typeface="Open Sans ExtraBold"/>
      <p:bold r:id="rId24"/>
      <p:boldItalic r:id="rId25"/>
    </p:embeddedFont>
    <p:embeddedFont>
      <p:font typeface="Open Sans"/>
      <p:bold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8" roundtripDataSignature="AMtx7mhagaaXvMn4ftvvSydav94RVtRL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font" Target="fonts/LeagueSpartan-regular.fntdata"/><Relationship Id="rId19" Type="http://schemas.openxmlformats.org/officeDocument/2006/relationships/font" Target="fonts/LeagueSpartan-bold.fntdata"/><Relationship Id="rId20" Type="http://schemas.openxmlformats.org/officeDocument/2006/relationships/font" Target="fonts/OpenSansSemiBold-regular.fntdata"/><Relationship Id="rId21" Type="http://schemas.openxmlformats.org/officeDocument/2006/relationships/font" Target="fonts/OpenSansSemiBold-bold.fntdata"/><Relationship Id="rId22" Type="http://schemas.openxmlformats.org/officeDocument/2006/relationships/font" Target="fonts/OpenSansSemiBold-italic.fntdata"/><Relationship Id="rId23" Type="http://schemas.openxmlformats.org/officeDocument/2006/relationships/font" Target="fonts/OpenSansSemiBold-boldItalic.fntdata"/><Relationship Id="rId24" Type="http://schemas.openxmlformats.org/officeDocument/2006/relationships/font" Target="fonts/OpenSansExtraBold-bold.fntdata"/><Relationship Id="rId25" Type="http://schemas.openxmlformats.org/officeDocument/2006/relationships/font" Target="fonts/OpenSansExtraBold-boldItalic.fntdata"/><Relationship Id="rId26" Type="http://schemas.openxmlformats.org/officeDocument/2006/relationships/font" Target="fonts/OpenSans-bold.fntdata"/><Relationship Id="rId27" Type="http://schemas.openxmlformats.org/officeDocument/2006/relationships/font" Target="fonts/OpenSans-boldItalic.fntdata"/><Relationship Id="rId28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f80270db7c_0_28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f80270db7c_0_28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f4ec2d9a0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f4ec2d9a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f80270db7c_0_34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f80270db7c_0_3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804270fab_92_0)">
  <p:cSld name="Generated (g3f804270fab_92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3.png"/><Relationship Id="rId8" Type="http://schemas.openxmlformats.org/officeDocument/2006/relationships/image" Target="../media/image7.png"/><Relationship Id="rId9" Type="http://schemas.openxmlformats.org/officeDocument/2006/relationships/image" Target="../media/image11.png"/><Relationship Id="rId10" Type="http://schemas.openxmlformats.org/officeDocument/2006/relationships/image" Target="../media/image13.png"/><Relationship Id="rId11" Type="http://schemas.openxmlformats.org/officeDocument/2006/relationships/image" Target="../media/image1.png"/><Relationship Id="rId12" Type="http://schemas.openxmlformats.org/officeDocument/2006/relationships/image" Target="../media/image8.png"/><Relationship Id="rId13" Type="http://schemas.openxmlformats.org/officeDocument/2006/relationships/image" Target="../media/image4.png"/><Relationship Id="rId14" Type="http://schemas.openxmlformats.org/officeDocument/2006/relationships/image" Target="../media/image12.png"/><Relationship Id="rId15" Type="http://schemas.openxmlformats.org/officeDocument/2006/relationships/image" Target="../media/image10.jpg"/><Relationship Id="rId16" Type="http://schemas.openxmlformats.org/officeDocument/2006/relationships/image" Target="../media/image9.jpg"/><Relationship Id="rId17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6.png"/><Relationship Id="rId9" Type="http://schemas.openxmlformats.org/officeDocument/2006/relationships/image" Target="../media/image11.png"/><Relationship Id="rId10" Type="http://schemas.openxmlformats.org/officeDocument/2006/relationships/image" Target="../media/image3.png"/><Relationship Id="rId11" Type="http://schemas.openxmlformats.org/officeDocument/2006/relationships/hyperlink" Target="mailto:sec25ee009@sairamtap.edu.in" TargetMode="External"/><Relationship Id="rId12" Type="http://schemas.openxmlformats.org/officeDocument/2006/relationships/hyperlink" Target="mailto:sec25ee076@sairamtap.edu.in" TargetMode="External"/><Relationship Id="rId13" Type="http://schemas.openxmlformats.org/officeDocument/2006/relationships/hyperlink" Target="mailto:sec25ee061@sairamtap.edu.in" TargetMode="External"/><Relationship Id="rId14" Type="http://schemas.openxmlformats.org/officeDocument/2006/relationships/hyperlink" Target="mailto:secl25cs08@sairamtap.edu.in" TargetMode="External"/><Relationship Id="rId15" Type="http://schemas.openxmlformats.org/officeDocument/2006/relationships/hyperlink" Target="mailto:sec24cs114@sairamtap.edu.in" TargetMode="External"/><Relationship Id="rId16" Type="http://schemas.openxmlformats.org/officeDocument/2006/relationships/hyperlink" Target="mailto:sivaprasad.eee@sairam.edu.in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5" Type="http://schemas.openxmlformats.org/officeDocument/2006/relationships/image" Target="../media/image15.png"/><Relationship Id="rId6" Type="http://schemas.openxmlformats.org/officeDocument/2006/relationships/image" Target="../media/image2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16.png"/><Relationship Id="rId10" Type="http://schemas.openxmlformats.org/officeDocument/2006/relationships/image" Target="../media/image11.png"/><Relationship Id="rId11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6.png"/><Relationship Id="rId9" Type="http://schemas.openxmlformats.org/officeDocument/2006/relationships/image" Target="../media/image11.png"/><Relationship Id="rId10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6.png"/><Relationship Id="rId9" Type="http://schemas.openxmlformats.org/officeDocument/2006/relationships/image" Target="../media/image11.png"/><Relationship Id="rId10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6.png"/><Relationship Id="rId9" Type="http://schemas.openxmlformats.org/officeDocument/2006/relationships/image" Target="../media/image11.png"/><Relationship Id="rId10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6.png"/><Relationship Id="rId9" Type="http://schemas.openxmlformats.org/officeDocument/2006/relationships/image" Target="../media/image11.png"/><Relationship Id="rId10" Type="http://schemas.openxmlformats.org/officeDocument/2006/relationships/image" Target="../media/image3.png"/><Relationship Id="rId11" Type="http://schemas.openxmlformats.org/officeDocument/2006/relationships/image" Target="../media/image19.jpg"/><Relationship Id="rId12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6.png"/><Relationship Id="rId9" Type="http://schemas.openxmlformats.org/officeDocument/2006/relationships/image" Target="../media/image11.png"/><Relationship Id="rId10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6.png"/><Relationship Id="rId9" Type="http://schemas.openxmlformats.org/officeDocument/2006/relationships/image" Target="../media/image11.png"/><Relationship Id="rId10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Relationship Id="rId7" Type="http://schemas.openxmlformats.org/officeDocument/2006/relationships/image" Target="../media/image5.png"/><Relationship Id="rId8" Type="http://schemas.openxmlformats.org/officeDocument/2006/relationships/image" Target="../media/image20.png"/><Relationship Id="rId9" Type="http://schemas.openxmlformats.org/officeDocument/2006/relationships/image" Target="../media/image6.png"/><Relationship Id="rId10" Type="http://schemas.openxmlformats.org/officeDocument/2006/relationships/image" Target="../media/image2.png"/><Relationship Id="rId11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20.png"/><Relationship Id="rId9" Type="http://schemas.openxmlformats.org/officeDocument/2006/relationships/image" Target="../media/image2.png"/><Relationship Id="rId10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20.png"/><Relationship Id="rId9" Type="http://schemas.openxmlformats.org/officeDocument/2006/relationships/image" Target="../media/image2.png"/><Relationship Id="rId10" Type="http://schemas.openxmlformats.org/officeDocument/2006/relationships/image" Target="../media/image3.png"/><Relationship Id="rId11" Type="http://schemas.openxmlformats.org/officeDocument/2006/relationships/hyperlink" Target="mailto:sec25ee009@sairamtap.edu.in" TargetMode="External"/><Relationship Id="rId12" Type="http://schemas.openxmlformats.org/officeDocument/2006/relationships/hyperlink" Target="https://www.linkedin.com/in/manieswari-murugan-aa02bb376" TargetMode="External"/><Relationship Id="rId13" Type="http://schemas.openxmlformats.org/officeDocument/2006/relationships/hyperlink" Target="tel:+918870909047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 rot="2191779">
            <a:off x="16317141" y="1401623"/>
            <a:ext cx="5281602" cy="6044752"/>
          </a:xfrm>
          <a:custGeom>
            <a:rect b="b" l="l" r="r" t="t"/>
            <a:pathLst>
              <a:path extrusionOk="0" h="6044752" w="5281602">
                <a:moveTo>
                  <a:pt x="0" y="0"/>
                </a:moveTo>
                <a:lnTo>
                  <a:pt x="5281602" y="0"/>
                </a:lnTo>
                <a:lnTo>
                  <a:pt x="5281602" y="6044752"/>
                </a:lnTo>
                <a:lnTo>
                  <a:pt x="0" y="6044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86" name="Google Shape;86;p1"/>
          <p:cNvSpPr/>
          <p:nvPr/>
        </p:nvSpPr>
        <p:spPr>
          <a:xfrm rot="580272">
            <a:off x="-2988263" y="1620393"/>
            <a:ext cx="4068508" cy="4114800"/>
          </a:xfrm>
          <a:custGeom>
            <a:rect b="b" l="l" r="r" t="t"/>
            <a:pathLst>
              <a:path extrusionOk="0" h="4114800" w="4068508">
                <a:moveTo>
                  <a:pt x="0" y="0"/>
                </a:moveTo>
                <a:lnTo>
                  <a:pt x="4068509" y="0"/>
                </a:lnTo>
                <a:lnTo>
                  <a:pt x="40685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87" name="Google Shape;87;p1"/>
          <p:cNvSpPr/>
          <p:nvPr/>
        </p:nvSpPr>
        <p:spPr>
          <a:xfrm rot="1609195">
            <a:off x="-1591696" y="4259558"/>
            <a:ext cx="3077802" cy="2092906"/>
          </a:xfrm>
          <a:custGeom>
            <a:rect b="b" l="l" r="r" t="t"/>
            <a:pathLst>
              <a:path extrusionOk="0" h="2092906" w="3077802">
                <a:moveTo>
                  <a:pt x="0" y="0"/>
                </a:moveTo>
                <a:lnTo>
                  <a:pt x="3077802" y="0"/>
                </a:lnTo>
                <a:lnTo>
                  <a:pt x="3077802" y="2092906"/>
                </a:lnTo>
                <a:lnTo>
                  <a:pt x="0" y="20929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88" name="Google Shape;88;p1"/>
          <p:cNvSpPr/>
          <p:nvPr/>
        </p:nvSpPr>
        <p:spPr>
          <a:xfrm>
            <a:off x="16843119" y="2502505"/>
            <a:ext cx="1383035" cy="1320913"/>
          </a:xfrm>
          <a:custGeom>
            <a:rect b="b" l="l" r="r" t="t"/>
            <a:pathLst>
              <a:path extrusionOk="0" h="1320913" w="1383035">
                <a:moveTo>
                  <a:pt x="0" y="0"/>
                </a:moveTo>
                <a:lnTo>
                  <a:pt x="1383035" y="0"/>
                </a:lnTo>
                <a:lnTo>
                  <a:pt x="1383035" y="1320913"/>
                </a:lnTo>
                <a:lnTo>
                  <a:pt x="0" y="13209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89" name="Google Shape;89;p1"/>
          <p:cNvSpPr/>
          <p:nvPr/>
        </p:nvSpPr>
        <p:spPr>
          <a:xfrm>
            <a:off x="6639142" y="2386495"/>
            <a:ext cx="5609965" cy="3739977"/>
          </a:xfrm>
          <a:custGeom>
            <a:rect b="b" l="l" r="r" t="t"/>
            <a:pathLst>
              <a:path extrusionOk="0" h="3739977" w="5609965">
                <a:moveTo>
                  <a:pt x="0" y="0"/>
                </a:moveTo>
                <a:lnTo>
                  <a:pt x="5609965" y="0"/>
                </a:lnTo>
                <a:lnTo>
                  <a:pt x="5609965" y="3739977"/>
                </a:lnTo>
                <a:lnTo>
                  <a:pt x="0" y="37399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90" name="Google Shape;90;p1"/>
          <p:cNvSpPr/>
          <p:nvPr/>
        </p:nvSpPr>
        <p:spPr>
          <a:xfrm>
            <a:off x="345698" y="327044"/>
            <a:ext cx="5177302" cy="787381"/>
          </a:xfrm>
          <a:custGeom>
            <a:rect b="b" l="l" r="r" t="t"/>
            <a:pathLst>
              <a:path extrusionOk="0" h="787381" w="5177302">
                <a:moveTo>
                  <a:pt x="0" y="0"/>
                </a:moveTo>
                <a:lnTo>
                  <a:pt x="5177302" y="0"/>
                </a:lnTo>
                <a:lnTo>
                  <a:pt x="5177302" y="787381"/>
                </a:lnTo>
                <a:lnTo>
                  <a:pt x="0" y="7873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91" name="Google Shape;91;p1"/>
          <p:cNvSpPr/>
          <p:nvPr/>
        </p:nvSpPr>
        <p:spPr>
          <a:xfrm>
            <a:off x="7358044" y="2133458"/>
            <a:ext cx="3721009" cy="905445"/>
          </a:xfrm>
          <a:custGeom>
            <a:rect b="b" l="l" r="r" t="t"/>
            <a:pathLst>
              <a:path extrusionOk="0" h="905445" w="3721009">
                <a:moveTo>
                  <a:pt x="0" y="0"/>
                </a:moveTo>
                <a:lnTo>
                  <a:pt x="3721009" y="0"/>
                </a:lnTo>
                <a:lnTo>
                  <a:pt x="3721009" y="905445"/>
                </a:lnTo>
                <a:lnTo>
                  <a:pt x="0" y="905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92" name="Google Shape;92;p1"/>
          <p:cNvSpPr/>
          <p:nvPr/>
        </p:nvSpPr>
        <p:spPr>
          <a:xfrm>
            <a:off x="16244518" y="271759"/>
            <a:ext cx="864540" cy="897447"/>
          </a:xfrm>
          <a:custGeom>
            <a:rect b="b" l="l" r="r" t="t"/>
            <a:pathLst>
              <a:path extrusionOk="0" h="897447" w="864540">
                <a:moveTo>
                  <a:pt x="0" y="0"/>
                </a:moveTo>
                <a:lnTo>
                  <a:pt x="864541" y="0"/>
                </a:lnTo>
                <a:lnTo>
                  <a:pt x="864541" y="897447"/>
                </a:lnTo>
                <a:lnTo>
                  <a:pt x="0" y="8974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93" name="Google Shape;93;p1"/>
          <p:cNvSpPr/>
          <p:nvPr/>
        </p:nvSpPr>
        <p:spPr>
          <a:xfrm>
            <a:off x="17171699" y="228616"/>
            <a:ext cx="937490" cy="1024266"/>
          </a:xfrm>
          <a:custGeom>
            <a:rect b="b" l="l" r="r" t="t"/>
            <a:pathLst>
              <a:path extrusionOk="0" h="1024266" w="937490">
                <a:moveTo>
                  <a:pt x="0" y="0"/>
                </a:moveTo>
                <a:lnTo>
                  <a:pt x="937491" y="0"/>
                </a:lnTo>
                <a:lnTo>
                  <a:pt x="937491" y="1024266"/>
                </a:lnTo>
                <a:lnTo>
                  <a:pt x="0" y="10242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94" name="Google Shape;94;p1"/>
          <p:cNvSpPr/>
          <p:nvPr/>
        </p:nvSpPr>
        <p:spPr>
          <a:xfrm>
            <a:off x="14598050" y="370504"/>
            <a:ext cx="1617961" cy="699958"/>
          </a:xfrm>
          <a:custGeom>
            <a:rect b="b" l="l" r="r" t="t"/>
            <a:pathLst>
              <a:path extrusionOk="0" h="699958" w="1617961">
                <a:moveTo>
                  <a:pt x="0" y="0"/>
                </a:moveTo>
                <a:lnTo>
                  <a:pt x="1617961" y="0"/>
                </a:lnTo>
                <a:lnTo>
                  <a:pt x="1617961" y="699957"/>
                </a:lnTo>
                <a:lnTo>
                  <a:pt x="0" y="6999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95" name="Google Shape;95;p1"/>
          <p:cNvSpPr/>
          <p:nvPr/>
        </p:nvSpPr>
        <p:spPr>
          <a:xfrm>
            <a:off x="13595623" y="423465"/>
            <a:ext cx="860246" cy="646997"/>
          </a:xfrm>
          <a:custGeom>
            <a:rect b="b" l="l" r="r" t="t"/>
            <a:pathLst>
              <a:path extrusionOk="0" h="646997" w="860246">
                <a:moveTo>
                  <a:pt x="0" y="0"/>
                </a:moveTo>
                <a:lnTo>
                  <a:pt x="860246" y="0"/>
                </a:lnTo>
                <a:lnTo>
                  <a:pt x="860246" y="646996"/>
                </a:lnTo>
                <a:lnTo>
                  <a:pt x="0" y="6469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96" name="Google Shape;96;p1"/>
          <p:cNvSpPr/>
          <p:nvPr/>
        </p:nvSpPr>
        <p:spPr>
          <a:xfrm>
            <a:off x="12249107" y="138235"/>
            <a:ext cx="1249721" cy="1249721"/>
          </a:xfrm>
          <a:custGeom>
            <a:rect b="b" l="l" r="r" t="t"/>
            <a:pathLst>
              <a:path extrusionOk="0" h="1249721" w="1249721">
                <a:moveTo>
                  <a:pt x="0" y="0"/>
                </a:moveTo>
                <a:lnTo>
                  <a:pt x="1249721" y="0"/>
                </a:lnTo>
                <a:lnTo>
                  <a:pt x="1249721" y="1249721"/>
                </a:lnTo>
                <a:lnTo>
                  <a:pt x="0" y="12497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97" name="Google Shape;97;p1"/>
          <p:cNvSpPr/>
          <p:nvPr/>
        </p:nvSpPr>
        <p:spPr>
          <a:xfrm>
            <a:off x="16870483" y="9183445"/>
            <a:ext cx="1417517" cy="920173"/>
          </a:xfrm>
          <a:custGeom>
            <a:rect b="b" l="l" r="r" t="t"/>
            <a:pathLst>
              <a:path extrusionOk="0" h="920173" w="1417517">
                <a:moveTo>
                  <a:pt x="0" y="0"/>
                </a:moveTo>
                <a:lnTo>
                  <a:pt x="1417517" y="0"/>
                </a:lnTo>
                <a:lnTo>
                  <a:pt x="1417517" y="920173"/>
                </a:lnTo>
                <a:lnTo>
                  <a:pt x="0" y="9201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98" name="Google Shape;98;p1"/>
          <p:cNvSpPr/>
          <p:nvPr/>
        </p:nvSpPr>
        <p:spPr>
          <a:xfrm>
            <a:off x="15966753" y="9148878"/>
            <a:ext cx="1038448" cy="1070578"/>
          </a:xfrm>
          <a:custGeom>
            <a:rect b="b" l="l" r="r" t="t"/>
            <a:pathLst>
              <a:path extrusionOk="0" h="1070578" w="1038448">
                <a:moveTo>
                  <a:pt x="0" y="0"/>
                </a:moveTo>
                <a:lnTo>
                  <a:pt x="1038448" y="0"/>
                </a:lnTo>
                <a:lnTo>
                  <a:pt x="1038448" y="1070578"/>
                </a:lnTo>
                <a:lnTo>
                  <a:pt x="0" y="10705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-3094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99" name="Google Shape;99;p1"/>
          <p:cNvSpPr/>
          <p:nvPr/>
        </p:nvSpPr>
        <p:spPr>
          <a:xfrm>
            <a:off x="5826648" y="2456452"/>
            <a:ext cx="1340896" cy="1164903"/>
          </a:xfrm>
          <a:custGeom>
            <a:rect b="b" l="l" r="r" t="t"/>
            <a:pathLst>
              <a:path extrusionOk="0" h="1164903" w="1340896">
                <a:moveTo>
                  <a:pt x="0" y="0"/>
                </a:moveTo>
                <a:lnTo>
                  <a:pt x="1340896" y="0"/>
                </a:lnTo>
                <a:lnTo>
                  <a:pt x="1340896" y="1164903"/>
                </a:lnTo>
                <a:lnTo>
                  <a:pt x="0" y="11649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00" name="Google Shape;100;p1"/>
          <p:cNvSpPr txBox="1"/>
          <p:nvPr/>
        </p:nvSpPr>
        <p:spPr>
          <a:xfrm>
            <a:off x="6649181" y="5563186"/>
            <a:ext cx="5599927" cy="776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0" i="0">
                <a:solidFill>
                  <a:srgbClr val="486AFD"/>
                </a:solidFill>
                <a:latin typeface="Open Sans ExtraBold"/>
              </a:rPr>
              <a:t>CHROMAGUARD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1080950" y="6786991"/>
            <a:ext cx="164634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0" i="0">
                <a:solidFill>
                  <a:srgbClr val="8C52FF"/>
                </a:solidFill>
                <a:latin typeface="Open Sans ExtraBold"/>
              </a:rPr>
              <a:t>EFFLUENT COMPLIANCE SYSTEM</a:t>
            </a:r>
            <a:endParaRPr/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50" b="0" i="0">
                <a:solidFill>
                  <a:srgbClr val="1E293B"/>
                </a:solidFill>
                <a:latin typeface="Open Sans"/>
              </a:rPr>
              <a:t>A pipe-mounted IoT system that senses textile effluent, classifies it in real time, and automatically diverts non-compliant discharge before it reaches rivers or groundwater.</a:t>
            </a:r>
          </a:p>
        </p:txBody>
      </p:sp>
      <p:sp>
        <p:nvSpPr>
          <p:cNvPr id="102" name="Google Shape;102;p1"/>
          <p:cNvSpPr txBox="1"/>
          <p:nvPr/>
        </p:nvSpPr>
        <p:spPr>
          <a:xfrm>
            <a:off x="7719600" y="1586574"/>
            <a:ext cx="29718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1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47" u="none" cap="none" strike="noStrik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SCHOOL OF COMPUTING </a:t>
            </a:r>
            <a:endParaRPr b="1"/>
          </a:p>
        </p:txBody>
      </p:sp>
      <p:sp>
        <p:nvSpPr>
          <p:cNvPr id="103" name="Google Shape;103;p1"/>
          <p:cNvSpPr txBox="1"/>
          <p:nvPr/>
        </p:nvSpPr>
        <p:spPr>
          <a:xfrm>
            <a:off x="8926374" y="1830345"/>
            <a:ext cx="772523" cy="252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4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2" u="none" cap="none" strike="noStrike">
                <a:solidFill>
                  <a:srgbClr val="8C52FF"/>
                </a:solidFill>
                <a:latin typeface="Arial"/>
                <a:ea typeface="Arial"/>
                <a:cs typeface="Arial"/>
                <a:sym typeface="Arial"/>
              </a:rPr>
              <a:t>Organizes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13595623" y="9672107"/>
            <a:ext cx="2476179" cy="194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62" u="none" cap="none" strike="noStrike">
                <a:solidFill>
                  <a:srgbClr val="8C52FF"/>
                </a:solidFill>
                <a:latin typeface="Open Sans"/>
                <a:ea typeface="Open Sans"/>
                <a:cs typeface="Open Sans"/>
                <a:sym typeface="Open Sans"/>
              </a:rPr>
              <a:t>COMMUNITY PARTNERS :</a:t>
            </a:r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6217920" y="8275320"/>
            <a:ext cx="585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Open Sans SemiBold"/>
              </a:rPr>
              <a:t>TEAM TECHNOZ  ·  HACKFUSION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"/>
          <p:cNvSpPr/>
          <p:nvPr/>
        </p:nvSpPr>
        <p:spPr>
          <a:xfrm rot="1952229">
            <a:off x="16582574" y="3024474"/>
            <a:ext cx="3681941" cy="4213954"/>
          </a:xfrm>
          <a:custGeom>
            <a:rect b="b" l="l" r="r" t="t"/>
            <a:pathLst>
              <a:path extrusionOk="0" h="4216669" w="3684314">
                <a:moveTo>
                  <a:pt x="0" y="0"/>
                </a:moveTo>
                <a:lnTo>
                  <a:pt x="3684314" y="0"/>
                </a:lnTo>
                <a:lnTo>
                  <a:pt x="3684314" y="4216669"/>
                </a:lnTo>
                <a:lnTo>
                  <a:pt x="0" y="42166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10" name="Google Shape;110;p9"/>
          <p:cNvSpPr/>
          <p:nvPr/>
        </p:nvSpPr>
        <p:spPr>
          <a:xfrm rot="744277">
            <a:off x="-3111650" y="4768904"/>
            <a:ext cx="4072028" cy="4118360"/>
          </a:xfrm>
          <a:custGeom>
            <a:rect b="b" l="l" r="r" t="t"/>
            <a:pathLst>
              <a:path extrusionOk="0" h="4114800" w="4068508">
                <a:moveTo>
                  <a:pt x="0" y="0"/>
                </a:moveTo>
                <a:lnTo>
                  <a:pt x="4068508" y="0"/>
                </a:lnTo>
                <a:lnTo>
                  <a:pt x="4068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11" name="Google Shape;111;p9"/>
          <p:cNvSpPr/>
          <p:nvPr/>
        </p:nvSpPr>
        <p:spPr>
          <a:xfrm>
            <a:off x="17736411" y="6274217"/>
            <a:ext cx="891716" cy="754202"/>
          </a:xfrm>
          <a:custGeom>
            <a:rect b="b" l="l" r="r" t="t"/>
            <a:pathLst>
              <a:path extrusionOk="0" h="754202" w="891716">
                <a:moveTo>
                  <a:pt x="0" y="0"/>
                </a:moveTo>
                <a:lnTo>
                  <a:pt x="891716" y="0"/>
                </a:lnTo>
                <a:lnTo>
                  <a:pt x="891716" y="754202"/>
                </a:lnTo>
                <a:lnTo>
                  <a:pt x="0" y="7542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12" name="Google Shape;112;p9"/>
          <p:cNvSpPr/>
          <p:nvPr/>
        </p:nvSpPr>
        <p:spPr>
          <a:xfrm rot="1770831">
            <a:off x="-1789340" y="7446447"/>
            <a:ext cx="3076965" cy="2092337"/>
          </a:xfrm>
          <a:custGeom>
            <a:rect b="b" l="l" r="r" t="t"/>
            <a:pathLst>
              <a:path extrusionOk="0" h="2092906" w="3077802">
                <a:moveTo>
                  <a:pt x="0" y="0"/>
                </a:moveTo>
                <a:lnTo>
                  <a:pt x="3077802" y="0"/>
                </a:lnTo>
                <a:lnTo>
                  <a:pt x="3077802" y="2092906"/>
                </a:lnTo>
                <a:lnTo>
                  <a:pt x="0" y="20929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13" name="Google Shape;113;p9"/>
          <p:cNvSpPr/>
          <p:nvPr/>
        </p:nvSpPr>
        <p:spPr>
          <a:xfrm>
            <a:off x="16679493" y="2500431"/>
            <a:ext cx="1967557" cy="1879180"/>
          </a:xfrm>
          <a:custGeom>
            <a:rect b="b" l="l" r="r" t="t"/>
            <a:pathLst>
              <a:path extrusionOk="0" h="1879180" w="1967557">
                <a:moveTo>
                  <a:pt x="0" y="0"/>
                </a:moveTo>
                <a:lnTo>
                  <a:pt x="1967557" y="0"/>
                </a:lnTo>
                <a:lnTo>
                  <a:pt x="1967557" y="1879180"/>
                </a:lnTo>
                <a:lnTo>
                  <a:pt x="0" y="18791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14" name="Google Shape;114;p9"/>
          <p:cNvSpPr/>
          <p:nvPr/>
        </p:nvSpPr>
        <p:spPr>
          <a:xfrm>
            <a:off x="199210" y="-57150"/>
            <a:ext cx="5267831" cy="1755944"/>
          </a:xfrm>
          <a:custGeom>
            <a:rect b="b" l="l" r="r" t="t"/>
            <a:pathLst>
              <a:path extrusionOk="0" h="1755944" w="5267831">
                <a:moveTo>
                  <a:pt x="0" y="0"/>
                </a:moveTo>
                <a:lnTo>
                  <a:pt x="5267831" y="0"/>
                </a:lnTo>
                <a:lnTo>
                  <a:pt x="5267831" y="1755944"/>
                </a:lnTo>
                <a:lnTo>
                  <a:pt x="0" y="17559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15" name="Google Shape;115;p9"/>
          <p:cNvSpPr/>
          <p:nvPr/>
        </p:nvSpPr>
        <p:spPr>
          <a:xfrm>
            <a:off x="14799394" y="438739"/>
            <a:ext cx="3140410" cy="764166"/>
          </a:xfrm>
          <a:custGeom>
            <a:rect b="b" l="l" r="r" t="t"/>
            <a:pathLst>
              <a:path extrusionOk="0" h="764166" w="3140410">
                <a:moveTo>
                  <a:pt x="0" y="0"/>
                </a:moveTo>
                <a:lnTo>
                  <a:pt x="3140410" y="0"/>
                </a:lnTo>
                <a:lnTo>
                  <a:pt x="3140410" y="764166"/>
                </a:lnTo>
                <a:lnTo>
                  <a:pt x="0" y="7641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16" name="Google Shape;116;p9"/>
          <p:cNvSpPr/>
          <p:nvPr/>
        </p:nvSpPr>
        <p:spPr>
          <a:xfrm>
            <a:off x="16056873" y="8944972"/>
            <a:ext cx="2125396" cy="1416931"/>
          </a:xfrm>
          <a:custGeom>
            <a:rect b="b" l="l" r="r" t="t"/>
            <a:pathLst>
              <a:path extrusionOk="0" h="1416931" w="2125396">
                <a:moveTo>
                  <a:pt x="0" y="0"/>
                </a:moveTo>
                <a:lnTo>
                  <a:pt x="2125396" y="0"/>
                </a:lnTo>
                <a:lnTo>
                  <a:pt x="2125396" y="1416931"/>
                </a:lnTo>
                <a:lnTo>
                  <a:pt x="0" y="141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17" name="Google Shape;117;p9"/>
          <p:cNvSpPr txBox="1"/>
          <p:nvPr/>
        </p:nvSpPr>
        <p:spPr>
          <a:xfrm>
            <a:off x="1333500" y="1428750"/>
            <a:ext cx="95250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1" i="0">
                <a:solidFill>
                  <a:srgbClr val="486AFD"/>
                </a:solidFill>
                <a:latin typeface="Open Sans"/>
              </a:rPr>
              <a:t>Meet the Builders</a:t>
            </a:r>
            <a:endParaRPr b="1" sz="1600">
              <a:solidFill>
                <a:srgbClr val="486AF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 i="0">
                <a:solidFill>
                  <a:srgbClr val="1E293B"/>
                </a:solidFill>
                <a:latin typeface="Open Sans ExtraBold"/>
              </a:rPr>
              <a:t>TEAM TECHNOZ</a:t>
            </a:r>
          </a:p>
        </p:txBody>
      </p:sp>
      <p:grpSp>
        <p:nvGrpSpPr>
          <p:cNvPr id="118" name="Google Shape;118;p9"/>
          <p:cNvGrpSpPr/>
          <p:nvPr/>
        </p:nvGrpSpPr>
        <p:grpSpPr>
          <a:xfrm>
            <a:off x="1333500" y="2952750"/>
            <a:ext cx="3619500" cy="2381400"/>
            <a:chOff x="0" y="0"/>
            <a:chExt cx="3619500" cy="2381400"/>
          </a:xfrm>
        </p:grpSpPr>
        <p:sp>
          <p:nvSpPr>
            <p:cNvPr id="119" name="Google Shape;119;p9"/>
            <p:cNvSpPr/>
            <p:nvPr/>
          </p:nvSpPr>
          <p:spPr>
            <a:xfrm>
              <a:off x="0" y="0"/>
              <a:ext cx="3619500" cy="2381400"/>
            </a:xfrm>
            <a:prstGeom prst="roundRect">
              <a:avLst>
                <a:gd fmla="val 6000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9"/>
            <p:cNvSpPr txBox="1"/>
            <p:nvPr/>
          </p:nvSpPr>
          <p:spPr>
            <a:xfrm>
              <a:off x="285750" y="285750"/>
              <a:ext cx="30480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/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None/>
              </a:pPr>
              <a:r>
                <a:rPr sz="1800" b="0" i="0">
                  <a:solidFill>
                    <a:srgbClr val="1E293B"/>
                  </a:solidFill>
                  <a:latin typeface="Open Sans ExtraBold"/>
                </a:rPr>
                <a:t>Manieswari M. V.</a:t>
              </a:r>
              <a:endParaRPr b="0" sz="2000">
                <a:solidFill>
                  <a:srgbClr val="1E293B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sz="1250" b="1" i="0">
                  <a:solidFill>
                    <a:srgbClr val="486AFD"/>
                  </a:solidFill>
                  <a:latin typeface="Open Sans"/>
                </a:rPr>
                <a:t>Team Leader · EEE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0" i="0">
                  <a:solidFill>
                    <a:srgbClr val="64748B"/>
                  </a:solidFill>
                  <a:latin typeface="Open Sans SemiBold"/>
                  <a:hlinkClick r:id="rId11"/>
                </a:rPr>
                <a:t>sec25ee009@sairamtap.edu.in</a:t>
              </a:r>
            </a:p>
          </p:txBody>
        </p:sp>
      </p:grpSp>
      <p:grpSp>
        <p:nvGrpSpPr>
          <p:cNvPr id="121" name="Google Shape;121;p9"/>
          <p:cNvGrpSpPr/>
          <p:nvPr/>
        </p:nvGrpSpPr>
        <p:grpSpPr>
          <a:xfrm>
            <a:off x="5334000" y="2952750"/>
            <a:ext cx="3619500" cy="2381400"/>
            <a:chOff x="0" y="0"/>
            <a:chExt cx="3619500" cy="2381400"/>
          </a:xfrm>
        </p:grpSpPr>
        <p:sp>
          <p:nvSpPr>
            <p:cNvPr id="122" name="Google Shape;122;p9"/>
            <p:cNvSpPr/>
            <p:nvPr/>
          </p:nvSpPr>
          <p:spPr>
            <a:xfrm>
              <a:off x="0" y="0"/>
              <a:ext cx="3619500" cy="2381400"/>
            </a:xfrm>
            <a:prstGeom prst="roundRect">
              <a:avLst>
                <a:gd fmla="val 6000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9"/>
            <p:cNvSpPr txBox="1"/>
            <p:nvPr/>
          </p:nvSpPr>
          <p:spPr>
            <a:xfrm>
              <a:off x="285750" y="285750"/>
              <a:ext cx="30480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/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None/>
              </a:pPr>
              <a:r>
                <a:rPr sz="1800" b="0" i="0">
                  <a:solidFill>
                    <a:srgbClr val="1E293B"/>
                  </a:solidFill>
                  <a:latin typeface="Open Sans ExtraBold"/>
                </a:rPr>
                <a:t>Poojasree P.</a:t>
              </a:r>
              <a:endParaRPr b="0" sz="2000">
                <a:solidFill>
                  <a:srgbClr val="1E293B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sz="1250" b="1" i="0">
                  <a:solidFill>
                    <a:srgbClr val="486AFD"/>
                  </a:solidFill>
                  <a:latin typeface="Open Sans"/>
                </a:rPr>
                <a:t>Team Member · EEE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0" i="0">
                  <a:solidFill>
                    <a:srgbClr val="64748B"/>
                  </a:solidFill>
                  <a:latin typeface="Open Sans SemiBold"/>
                  <a:hlinkClick r:id="rId12"/>
                </a:rPr>
                <a:t>sec25ee076@sairamtap.edu.in</a:t>
              </a:r>
            </a:p>
          </p:txBody>
        </p:sp>
      </p:grpSp>
      <p:grpSp>
        <p:nvGrpSpPr>
          <p:cNvPr id="124" name="Google Shape;124;p9"/>
          <p:cNvGrpSpPr/>
          <p:nvPr/>
        </p:nvGrpSpPr>
        <p:grpSpPr>
          <a:xfrm>
            <a:off x="9334500" y="2952750"/>
            <a:ext cx="3619500" cy="2381400"/>
            <a:chOff x="0" y="0"/>
            <a:chExt cx="3619500" cy="2381400"/>
          </a:xfrm>
        </p:grpSpPr>
        <p:sp>
          <p:nvSpPr>
            <p:cNvPr id="125" name="Google Shape;125;p9"/>
            <p:cNvSpPr/>
            <p:nvPr/>
          </p:nvSpPr>
          <p:spPr>
            <a:xfrm>
              <a:off x="0" y="0"/>
              <a:ext cx="3619500" cy="2381400"/>
            </a:xfrm>
            <a:prstGeom prst="roundRect">
              <a:avLst>
                <a:gd fmla="val 6000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9"/>
            <p:cNvSpPr txBox="1"/>
            <p:nvPr/>
          </p:nvSpPr>
          <p:spPr>
            <a:xfrm>
              <a:off x="285750" y="285750"/>
              <a:ext cx="30480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/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None/>
              </a:pPr>
              <a:r>
                <a:rPr sz="1800" b="0" i="0">
                  <a:solidFill>
                    <a:srgbClr val="1E293B"/>
                  </a:solidFill>
                  <a:latin typeface="Open Sans ExtraBold"/>
                </a:rPr>
                <a:t>Prathiksha S.</a:t>
              </a:r>
              <a:endParaRPr b="0" sz="2000">
                <a:solidFill>
                  <a:srgbClr val="1E293B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sz="1250" b="1" i="0">
                  <a:solidFill>
                    <a:srgbClr val="486AFD"/>
                  </a:solidFill>
                  <a:latin typeface="Open Sans"/>
                </a:rPr>
                <a:t>Team Member · EEE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0" i="0">
                  <a:solidFill>
                    <a:srgbClr val="64748B"/>
                  </a:solidFill>
                  <a:latin typeface="Open Sans SemiBold"/>
                  <a:hlinkClick r:id="rId13"/>
                </a:rPr>
                <a:t>sec25ee061@sairamtap.edu.in</a:t>
              </a:r>
            </a:p>
          </p:txBody>
        </p:sp>
      </p:grpSp>
      <p:grpSp>
        <p:nvGrpSpPr>
          <p:cNvPr id="127" name="Google Shape;127;p9"/>
          <p:cNvGrpSpPr/>
          <p:nvPr/>
        </p:nvGrpSpPr>
        <p:grpSpPr>
          <a:xfrm>
            <a:off x="13335000" y="2952750"/>
            <a:ext cx="3619500" cy="2381400"/>
            <a:chOff x="0" y="0"/>
            <a:chExt cx="3619500" cy="2381400"/>
          </a:xfrm>
        </p:grpSpPr>
        <p:sp>
          <p:nvSpPr>
            <p:cNvPr id="128" name="Google Shape;128;p9"/>
            <p:cNvSpPr/>
            <p:nvPr/>
          </p:nvSpPr>
          <p:spPr>
            <a:xfrm>
              <a:off x="0" y="0"/>
              <a:ext cx="3619500" cy="2381400"/>
            </a:xfrm>
            <a:prstGeom prst="roundRect">
              <a:avLst>
                <a:gd fmla="val 6000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9"/>
            <p:cNvSpPr txBox="1"/>
            <p:nvPr/>
          </p:nvSpPr>
          <p:spPr>
            <a:xfrm>
              <a:off x="285750" y="285750"/>
              <a:ext cx="30480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/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None/>
              </a:pPr>
              <a:r>
                <a:rPr sz="1800" b="0" i="0">
                  <a:solidFill>
                    <a:srgbClr val="1E293B"/>
                  </a:solidFill>
                  <a:latin typeface="Open Sans ExtraBold"/>
                </a:rPr>
                <a:t>Adithya S.</a:t>
              </a:r>
              <a:endParaRPr b="0" sz="2000">
                <a:solidFill>
                  <a:srgbClr val="1E293B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sz="1250" b="1" i="0">
                  <a:solidFill>
                    <a:srgbClr val="486AFD"/>
                  </a:solidFill>
                  <a:latin typeface="Open Sans"/>
                </a:rPr>
                <a:t>Team Member · CSE · 3rd Year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0" i="0">
                  <a:solidFill>
                    <a:srgbClr val="64748B"/>
                  </a:solidFill>
                  <a:latin typeface="Open Sans SemiBold"/>
                  <a:hlinkClick r:id="rId14"/>
                </a:rPr>
                <a:t>secl25cs08@sairamtap.edu.in</a:t>
              </a:r>
            </a:p>
          </p:txBody>
        </p:sp>
      </p:grpSp>
      <p:grpSp>
        <p:nvGrpSpPr>
          <p:cNvPr id="130" name="Google Shape;130;p9"/>
          <p:cNvGrpSpPr/>
          <p:nvPr/>
        </p:nvGrpSpPr>
        <p:grpSpPr>
          <a:xfrm>
            <a:off x="5334000" y="5715000"/>
            <a:ext cx="3619500" cy="2095500"/>
            <a:chOff x="0" y="0"/>
            <a:chExt cx="3619500" cy="2095500"/>
          </a:xfrm>
        </p:grpSpPr>
        <p:sp>
          <p:nvSpPr>
            <p:cNvPr id="131" name="Google Shape;131;p9"/>
            <p:cNvSpPr/>
            <p:nvPr/>
          </p:nvSpPr>
          <p:spPr>
            <a:xfrm>
              <a:off x="0" y="0"/>
              <a:ext cx="3619500" cy="2095500"/>
            </a:xfrm>
            <a:prstGeom prst="roundRect">
              <a:avLst>
                <a:gd fmla="val 6818" name="adj"/>
              </a:avLst>
            </a:prstGeom>
            <a:solidFill>
              <a:srgbClr val="F1F5F9"/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9"/>
            <p:cNvSpPr/>
            <p:nvPr/>
          </p:nvSpPr>
          <p:spPr>
            <a:xfrm>
              <a:off x="285750" y="285750"/>
              <a:ext cx="762000" cy="266700"/>
            </a:xfrm>
            <a:prstGeom prst="roundRect">
              <a:avLst>
                <a:gd fmla="val 21428" name="adj"/>
              </a:avLst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9"/>
            <p:cNvSpPr txBox="1"/>
            <p:nvPr/>
          </p:nvSpPr>
          <p:spPr>
            <a:xfrm>
              <a:off x="285750" y="285750"/>
              <a:ext cx="7620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r>
                <a:rPr sz="950">
                  <a:solidFill>
                    <a:srgbClr val="64748B"/>
                  </a:solidFill>
                  <a:latin typeface="Open Sans ExtraBold"/>
                </a:rPr>
                <a:t>TEAM MEMBER</a:t>
              </a:r>
            </a:p>
          </p:txBody>
        </p:sp>
        <p:sp>
          <p:nvSpPr>
            <p:cNvPr id="134" name="Google Shape;134;p9"/>
            <p:cNvSpPr txBox="1"/>
            <p:nvPr/>
          </p:nvSpPr>
          <p:spPr>
            <a:xfrm>
              <a:off x="285750" y="714375"/>
              <a:ext cx="3048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/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None/>
              </a:pPr>
              <a:r>
                <a:rPr sz="1800" b="0" i="0">
                  <a:solidFill>
                    <a:srgbClr val="1E293B"/>
                  </a:solidFill>
                  <a:latin typeface="Open Sans ExtraBold"/>
                </a:rPr>
                <a:t>Anantha Balan R.</a:t>
              </a:r>
              <a:endParaRPr b="0" sz="2000">
                <a:solidFill>
                  <a:srgbClr val="1E293B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sz="1250" b="1" i="0">
                  <a:solidFill>
                    <a:srgbClr val="486AFD"/>
                  </a:solidFill>
                  <a:latin typeface="Open Sans"/>
                </a:rPr>
                <a:t>Team Member · CSE · 3rd Year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0" i="0">
                  <a:solidFill>
                    <a:srgbClr val="64748B"/>
                  </a:solidFill>
                  <a:latin typeface="Open Sans SemiBold"/>
                  <a:hlinkClick r:id="rId15"/>
                </a:rPr>
                <a:t>sec24cs114@sairamtap.edu.in</a:t>
              </a:r>
            </a:p>
          </p:txBody>
        </p:sp>
      </p:grpSp>
      <p:grpSp>
        <p:nvGrpSpPr>
          <p:cNvPr id="135" name="Google Shape;135;p9"/>
          <p:cNvGrpSpPr/>
          <p:nvPr/>
        </p:nvGrpSpPr>
        <p:grpSpPr>
          <a:xfrm>
            <a:off x="9334500" y="5715000"/>
            <a:ext cx="3619500" cy="2095500"/>
            <a:chOff x="0" y="0"/>
            <a:chExt cx="3619500" cy="2095500"/>
          </a:xfrm>
        </p:grpSpPr>
        <p:sp>
          <p:nvSpPr>
            <p:cNvPr id="136" name="Google Shape;136;p9"/>
            <p:cNvSpPr/>
            <p:nvPr/>
          </p:nvSpPr>
          <p:spPr>
            <a:xfrm>
              <a:off x="0" y="0"/>
              <a:ext cx="3619500" cy="2095500"/>
            </a:xfrm>
            <a:prstGeom prst="roundRect">
              <a:avLst>
                <a:gd fmla="val 6818" name="adj"/>
              </a:avLst>
            </a:prstGeom>
            <a:solidFill>
              <a:srgbClr val="F1F5F9"/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9"/>
            <p:cNvSpPr/>
            <p:nvPr/>
          </p:nvSpPr>
          <p:spPr>
            <a:xfrm>
              <a:off x="285750" y="285750"/>
              <a:ext cx="762000" cy="266700"/>
            </a:xfrm>
            <a:prstGeom prst="roundRect">
              <a:avLst>
                <a:gd fmla="val 21428" name="adj"/>
              </a:avLst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9"/>
            <p:cNvSpPr txBox="1"/>
            <p:nvPr/>
          </p:nvSpPr>
          <p:spPr>
            <a:xfrm>
              <a:off x="285750" y="285750"/>
              <a:ext cx="7620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r>
                <a:rPr sz="950">
                  <a:solidFill>
                    <a:srgbClr val="64748B"/>
                  </a:solidFill>
                  <a:latin typeface="Open Sans ExtraBold"/>
                </a:rPr>
                <a:t>MENTOR</a:t>
              </a:r>
            </a:p>
          </p:txBody>
        </p:sp>
        <p:sp>
          <p:nvSpPr>
            <p:cNvPr id="139" name="Google Shape;139;p9"/>
            <p:cNvSpPr txBox="1"/>
            <p:nvPr/>
          </p:nvSpPr>
          <p:spPr>
            <a:xfrm>
              <a:off x="285750" y="714375"/>
              <a:ext cx="3048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/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None/>
              </a:pPr>
              <a:r>
                <a:rPr sz="1800" b="0" i="0">
                  <a:solidFill>
                    <a:srgbClr val="1E293B"/>
                  </a:solidFill>
                  <a:latin typeface="Open Sans ExtraBold"/>
                </a:rPr>
                <a:t>R. Sivaprasad</a:t>
              </a:r>
              <a:endParaRPr b="0" sz="2000">
                <a:solidFill>
                  <a:srgbClr val="1E293B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sz="1250" b="1" i="0">
                  <a:solidFill>
                    <a:srgbClr val="486AFD"/>
                  </a:solidFill>
                  <a:latin typeface="Open Sans"/>
                </a:rPr>
                <a:t>Faculty Mentor · Sri Sairam Engineering College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0" i="0">
                  <a:solidFill>
                    <a:srgbClr val="64748B"/>
                  </a:solidFill>
                  <a:latin typeface="Open Sans SemiBold"/>
                  <a:hlinkClick r:id="rId16"/>
                </a:rPr>
                <a:t>sivaprasad.eee@sairam.edu.in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"/>
          <p:cNvSpPr/>
          <p:nvPr/>
        </p:nvSpPr>
        <p:spPr>
          <a:xfrm>
            <a:off x="8516202" y="1745081"/>
            <a:ext cx="1350846" cy="1220827"/>
          </a:xfrm>
          <a:custGeom>
            <a:rect b="b" l="l" r="r" t="t"/>
            <a:pathLst>
              <a:path extrusionOk="0" h="1220827" w="1350846">
                <a:moveTo>
                  <a:pt x="0" y="0"/>
                </a:moveTo>
                <a:lnTo>
                  <a:pt x="1350846" y="0"/>
                </a:lnTo>
                <a:lnTo>
                  <a:pt x="1350846" y="1220827"/>
                </a:lnTo>
                <a:lnTo>
                  <a:pt x="0" y="12208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45" name="Google Shape;145;p2"/>
          <p:cNvSpPr/>
          <p:nvPr/>
        </p:nvSpPr>
        <p:spPr>
          <a:xfrm rot="1952229">
            <a:off x="16582574" y="3024474"/>
            <a:ext cx="3681941" cy="4213954"/>
          </a:xfrm>
          <a:custGeom>
            <a:rect b="b" l="l" r="r" t="t"/>
            <a:pathLst>
              <a:path extrusionOk="0" h="4216669" w="3684314">
                <a:moveTo>
                  <a:pt x="0" y="0"/>
                </a:moveTo>
                <a:lnTo>
                  <a:pt x="3684314" y="0"/>
                </a:lnTo>
                <a:lnTo>
                  <a:pt x="3684314" y="4216669"/>
                </a:lnTo>
                <a:lnTo>
                  <a:pt x="0" y="42166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46" name="Google Shape;146;p2"/>
          <p:cNvSpPr/>
          <p:nvPr/>
        </p:nvSpPr>
        <p:spPr>
          <a:xfrm rot="744277">
            <a:off x="-3111650" y="4768904"/>
            <a:ext cx="4072028" cy="4118360"/>
          </a:xfrm>
          <a:custGeom>
            <a:rect b="b" l="l" r="r" t="t"/>
            <a:pathLst>
              <a:path extrusionOk="0" h="4114800" w="4068508">
                <a:moveTo>
                  <a:pt x="0" y="0"/>
                </a:moveTo>
                <a:lnTo>
                  <a:pt x="4068508" y="0"/>
                </a:lnTo>
                <a:lnTo>
                  <a:pt x="4068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47" name="Google Shape;147;p2"/>
          <p:cNvSpPr/>
          <p:nvPr/>
        </p:nvSpPr>
        <p:spPr>
          <a:xfrm>
            <a:off x="17736411" y="6274217"/>
            <a:ext cx="891716" cy="754202"/>
          </a:xfrm>
          <a:custGeom>
            <a:rect b="b" l="l" r="r" t="t"/>
            <a:pathLst>
              <a:path extrusionOk="0" h="754202" w="891716">
                <a:moveTo>
                  <a:pt x="0" y="0"/>
                </a:moveTo>
                <a:lnTo>
                  <a:pt x="891716" y="0"/>
                </a:lnTo>
                <a:lnTo>
                  <a:pt x="891716" y="754202"/>
                </a:lnTo>
                <a:lnTo>
                  <a:pt x="0" y="7542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48" name="Google Shape;148;p2"/>
          <p:cNvSpPr/>
          <p:nvPr/>
        </p:nvSpPr>
        <p:spPr>
          <a:xfrm rot="1770831">
            <a:off x="-1789340" y="7446447"/>
            <a:ext cx="3076965" cy="2092337"/>
          </a:xfrm>
          <a:custGeom>
            <a:rect b="b" l="l" r="r" t="t"/>
            <a:pathLst>
              <a:path extrusionOk="0" h="2092906" w="3077802">
                <a:moveTo>
                  <a:pt x="0" y="0"/>
                </a:moveTo>
                <a:lnTo>
                  <a:pt x="3077802" y="0"/>
                </a:lnTo>
                <a:lnTo>
                  <a:pt x="3077802" y="2092906"/>
                </a:lnTo>
                <a:lnTo>
                  <a:pt x="0" y="20929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49" name="Google Shape;149;p2"/>
          <p:cNvSpPr/>
          <p:nvPr/>
        </p:nvSpPr>
        <p:spPr>
          <a:xfrm>
            <a:off x="16679493" y="2500431"/>
            <a:ext cx="1967557" cy="1879180"/>
          </a:xfrm>
          <a:custGeom>
            <a:rect b="b" l="l" r="r" t="t"/>
            <a:pathLst>
              <a:path extrusionOk="0" h="1879180" w="1967557">
                <a:moveTo>
                  <a:pt x="0" y="0"/>
                </a:moveTo>
                <a:lnTo>
                  <a:pt x="1967557" y="0"/>
                </a:lnTo>
                <a:lnTo>
                  <a:pt x="1967557" y="1879180"/>
                </a:lnTo>
                <a:lnTo>
                  <a:pt x="0" y="18791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50" name="Google Shape;150;p2"/>
          <p:cNvSpPr/>
          <p:nvPr/>
        </p:nvSpPr>
        <p:spPr>
          <a:xfrm>
            <a:off x="199210" y="-57150"/>
            <a:ext cx="5267831" cy="1755944"/>
          </a:xfrm>
          <a:custGeom>
            <a:rect b="b" l="l" r="r" t="t"/>
            <a:pathLst>
              <a:path extrusionOk="0" h="1755944" w="5267831">
                <a:moveTo>
                  <a:pt x="0" y="0"/>
                </a:moveTo>
                <a:lnTo>
                  <a:pt x="5267831" y="0"/>
                </a:lnTo>
                <a:lnTo>
                  <a:pt x="5267831" y="1755944"/>
                </a:lnTo>
                <a:lnTo>
                  <a:pt x="0" y="17559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51" name="Google Shape;151;p2"/>
          <p:cNvSpPr/>
          <p:nvPr/>
        </p:nvSpPr>
        <p:spPr>
          <a:xfrm>
            <a:off x="14799394" y="438739"/>
            <a:ext cx="3140410" cy="764166"/>
          </a:xfrm>
          <a:custGeom>
            <a:rect b="b" l="l" r="r" t="t"/>
            <a:pathLst>
              <a:path extrusionOk="0" h="764166" w="3140410">
                <a:moveTo>
                  <a:pt x="0" y="0"/>
                </a:moveTo>
                <a:lnTo>
                  <a:pt x="3140410" y="0"/>
                </a:lnTo>
                <a:lnTo>
                  <a:pt x="3140410" y="764166"/>
                </a:lnTo>
                <a:lnTo>
                  <a:pt x="0" y="7641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52" name="Google Shape;152;p2"/>
          <p:cNvSpPr/>
          <p:nvPr/>
        </p:nvSpPr>
        <p:spPr>
          <a:xfrm>
            <a:off x="16056873" y="8944972"/>
            <a:ext cx="2125396" cy="1416931"/>
          </a:xfrm>
          <a:custGeom>
            <a:rect b="b" l="l" r="r" t="t"/>
            <a:pathLst>
              <a:path extrusionOk="0" h="1416931" w="2125396">
                <a:moveTo>
                  <a:pt x="0" y="0"/>
                </a:moveTo>
                <a:lnTo>
                  <a:pt x="2125396" y="0"/>
                </a:lnTo>
                <a:lnTo>
                  <a:pt x="2125396" y="1416931"/>
                </a:lnTo>
                <a:lnTo>
                  <a:pt x="0" y="141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53" name="Google Shape;153;p2"/>
          <p:cNvSpPr txBox="1"/>
          <p:nvPr/>
        </p:nvSpPr>
        <p:spPr>
          <a:xfrm>
            <a:off x="1333500" y="1905000"/>
            <a:ext cx="8810700" cy="74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r>
              <a:rPr sz="4500" b="1">
                <a:solidFill>
                  <a:srgbClr val="486AFD"/>
                </a:solidFill>
                <a:latin typeface="Open Sans"/>
              </a:rPr>
              <a:t>PROBLEM STATEMENT</a:t>
            </a:r>
          </a:p>
        </p:txBody>
      </p:sp>
      <p:grpSp>
        <p:nvGrpSpPr>
          <p:cNvPr id="154" name="Google Shape;154;p2"/>
          <p:cNvGrpSpPr/>
          <p:nvPr/>
        </p:nvGrpSpPr>
        <p:grpSpPr>
          <a:xfrm>
            <a:off x="1333500" y="3429000"/>
            <a:ext cx="4572000" cy="4000500"/>
            <a:chOff x="0" y="0"/>
            <a:chExt cx="4572000" cy="4000500"/>
          </a:xfrm>
        </p:grpSpPr>
        <p:sp>
          <p:nvSpPr>
            <p:cNvPr id="155" name="Google Shape;155;p2"/>
            <p:cNvSpPr/>
            <p:nvPr/>
          </p:nvSpPr>
          <p:spPr>
            <a:xfrm>
              <a:off x="0" y="0"/>
              <a:ext cx="4572000" cy="4000500"/>
            </a:xfrm>
            <a:prstGeom prst="roundRect">
              <a:avLst>
                <a:gd fmla="val 4761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"/>
            <p:cNvSpPr txBox="1"/>
            <p:nvPr/>
          </p:nvSpPr>
          <p:spPr>
            <a:xfrm>
              <a:off x="381000" y="381000"/>
              <a:ext cx="3810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/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sz="4000" b="0" i="0">
                  <a:solidFill>
                    <a:srgbClr val="486AFD"/>
                  </a:solidFill>
                  <a:latin typeface="Open Sans ExtraBold"/>
                </a:rPr>
                <a:t>01</a:t>
              </a:r>
              <a:endParaRPr b="0" sz="4400">
                <a:solidFill>
                  <a:srgbClr val="486AFD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sz="2200" b="1" i="0">
                  <a:solidFill>
                    <a:srgbClr val="1E293B"/>
                  </a:solidFill>
                  <a:latin typeface="Open Sans"/>
                </a:rPr>
                <a:t>The Problem</a:t>
              </a:r>
            </a:p>
            <a:p>
              <a:pPr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0" i="0">
                  <a:solidFill>
                    <a:srgbClr val="475569"/>
                  </a:solidFill>
                  <a:latin typeface="Open Sans"/>
                </a:rPr>
                <a:t>Textile effluent is usually verified through lab tests only after it has left the pipe. Existing sensor systems may record contamination, but they do not physically stop the discharge.</a:t>
              </a:r>
            </a:p>
          </p:txBody>
        </p:sp>
      </p:grpSp>
      <p:grpSp>
        <p:nvGrpSpPr>
          <p:cNvPr id="157" name="Google Shape;157;p2"/>
          <p:cNvGrpSpPr/>
          <p:nvPr/>
        </p:nvGrpSpPr>
        <p:grpSpPr>
          <a:xfrm>
            <a:off x="6477000" y="3429000"/>
            <a:ext cx="4572000" cy="4000500"/>
            <a:chOff x="0" y="0"/>
            <a:chExt cx="4572000" cy="4000500"/>
          </a:xfrm>
        </p:grpSpPr>
        <p:sp>
          <p:nvSpPr>
            <p:cNvPr id="158" name="Google Shape;158;p2"/>
            <p:cNvSpPr/>
            <p:nvPr/>
          </p:nvSpPr>
          <p:spPr>
            <a:xfrm>
              <a:off x="0" y="0"/>
              <a:ext cx="4572000" cy="4000500"/>
            </a:xfrm>
            <a:prstGeom prst="roundRect">
              <a:avLst>
                <a:gd fmla="val 4761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"/>
            <p:cNvSpPr txBox="1"/>
            <p:nvPr/>
          </p:nvSpPr>
          <p:spPr>
            <a:xfrm>
              <a:off x="381000" y="381000"/>
              <a:ext cx="3810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/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sz="4000" b="0" i="0">
                  <a:solidFill>
                    <a:srgbClr val="486AFD"/>
                  </a:solidFill>
                  <a:latin typeface="Open Sans ExtraBold"/>
                </a:rPr>
                <a:t>02</a:t>
              </a:r>
              <a:endParaRPr b="0" sz="4400">
                <a:solidFill>
                  <a:srgbClr val="486AFD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sz="2200" b="1" i="0">
                  <a:solidFill>
                    <a:srgbClr val="1E293B"/>
                  </a:solidFill>
                  <a:latin typeface="Open Sans"/>
                </a:rPr>
                <a:t>Why It Matters</a:t>
              </a:r>
            </a:p>
            <a:p>
              <a:pPr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70" b="0" i="0">
                  <a:solidFill>
                    <a:srgbClr val="475569"/>
                  </a:solidFill>
                  <a:latin typeface="Open Sans"/>
                </a:rPr>
                <a:t>The Tiruppur dyeing cluster generates about 96 MLD of wastewater. Published Noyyal-basin readings cited in the concept deck show peak river TDS at 6,400–7,900 mg/L versus a 2,100 mg/L discharge standard.</a:t>
              </a:r>
            </a:p>
          </p:txBody>
        </p:sp>
      </p:grpSp>
      <p:grpSp>
        <p:nvGrpSpPr>
          <p:cNvPr id="160" name="Google Shape;160;p2"/>
          <p:cNvGrpSpPr/>
          <p:nvPr/>
        </p:nvGrpSpPr>
        <p:grpSpPr>
          <a:xfrm>
            <a:off x="11620500" y="3429000"/>
            <a:ext cx="4572000" cy="4000500"/>
            <a:chOff x="0" y="0"/>
            <a:chExt cx="4572000" cy="4000500"/>
          </a:xfrm>
        </p:grpSpPr>
        <p:sp>
          <p:nvSpPr>
            <p:cNvPr id="161" name="Google Shape;161;p2"/>
            <p:cNvSpPr/>
            <p:nvPr/>
          </p:nvSpPr>
          <p:spPr>
            <a:xfrm>
              <a:off x="0" y="0"/>
              <a:ext cx="4572000" cy="4000500"/>
            </a:xfrm>
            <a:prstGeom prst="roundRect">
              <a:avLst>
                <a:gd fmla="val 4761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"/>
            <p:cNvSpPr txBox="1"/>
            <p:nvPr/>
          </p:nvSpPr>
          <p:spPr>
            <a:xfrm>
              <a:off x="381000" y="381000"/>
              <a:ext cx="3810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/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sz="4000" b="0" i="0">
                  <a:solidFill>
                    <a:srgbClr val="486AFD"/>
                  </a:solidFill>
                  <a:latin typeface="Open Sans ExtraBold"/>
                </a:rPr>
                <a:t>03</a:t>
              </a:r>
              <a:endParaRPr b="0" sz="4400">
                <a:solidFill>
                  <a:srgbClr val="486AFD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sz="2200" b="1" i="0">
                  <a:solidFill>
                    <a:srgbClr val="1E293B"/>
                  </a:solidFill>
                  <a:latin typeface="Open Sans"/>
                </a:rPr>
                <a:t>Who Is Affected?</a:t>
              </a:r>
            </a:p>
            <a:p>
              <a:pPr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0" i="0">
                  <a:solidFill>
                    <a:srgbClr val="475569"/>
                  </a:solidFill>
                  <a:latin typeface="Open Sans"/>
                </a:rPr>
                <a:t>Nearby farming communities and groundwater users; TNPCB and municipal regulators; CETP operators; and 700+ dyeing and bleaching units across the Noyyal basin.</a:t>
              </a:r>
            </a:p>
          </p:txBody>
        </p:sp>
      </p:grpSp>
      <p:sp>
        <p:nvSpPr>
          <p:cNvPr id="163" name="TextBox 162"/>
          <p:cNvSpPr txBox="1"/>
          <p:nvPr/>
        </p:nvSpPr>
        <p:spPr>
          <a:xfrm>
            <a:off x="1417320" y="7662672"/>
            <a:ext cx="1527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Open Sans SemiBold"/>
              </a:rPr>
              <a:t>Case context: Noyyal River, Tiruppur–Erode belt · 18 operating CETPs cited in the original concept deck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"/>
          <p:cNvSpPr/>
          <p:nvPr/>
        </p:nvSpPr>
        <p:spPr>
          <a:xfrm rot="1952229">
            <a:off x="16582574" y="3024474"/>
            <a:ext cx="3681941" cy="4213954"/>
          </a:xfrm>
          <a:custGeom>
            <a:rect b="b" l="l" r="r" t="t"/>
            <a:pathLst>
              <a:path extrusionOk="0" h="4216669" w="3684314">
                <a:moveTo>
                  <a:pt x="0" y="0"/>
                </a:moveTo>
                <a:lnTo>
                  <a:pt x="3684314" y="0"/>
                </a:lnTo>
                <a:lnTo>
                  <a:pt x="3684314" y="4216669"/>
                </a:lnTo>
                <a:lnTo>
                  <a:pt x="0" y="42166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68" name="Google Shape;168;p3"/>
          <p:cNvSpPr/>
          <p:nvPr/>
        </p:nvSpPr>
        <p:spPr>
          <a:xfrm rot="744277">
            <a:off x="-3111650" y="4768904"/>
            <a:ext cx="4072028" cy="4118360"/>
          </a:xfrm>
          <a:custGeom>
            <a:rect b="b" l="l" r="r" t="t"/>
            <a:pathLst>
              <a:path extrusionOk="0" h="4114800" w="4068508">
                <a:moveTo>
                  <a:pt x="0" y="0"/>
                </a:moveTo>
                <a:lnTo>
                  <a:pt x="4068508" y="0"/>
                </a:lnTo>
                <a:lnTo>
                  <a:pt x="4068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69" name="Google Shape;169;p3"/>
          <p:cNvSpPr/>
          <p:nvPr/>
        </p:nvSpPr>
        <p:spPr>
          <a:xfrm>
            <a:off x="17736411" y="6274217"/>
            <a:ext cx="891716" cy="754202"/>
          </a:xfrm>
          <a:custGeom>
            <a:rect b="b" l="l" r="r" t="t"/>
            <a:pathLst>
              <a:path extrusionOk="0" h="754202" w="891716">
                <a:moveTo>
                  <a:pt x="0" y="0"/>
                </a:moveTo>
                <a:lnTo>
                  <a:pt x="891716" y="0"/>
                </a:lnTo>
                <a:lnTo>
                  <a:pt x="891716" y="754202"/>
                </a:lnTo>
                <a:lnTo>
                  <a:pt x="0" y="7542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70" name="Google Shape;170;p3"/>
          <p:cNvSpPr/>
          <p:nvPr/>
        </p:nvSpPr>
        <p:spPr>
          <a:xfrm rot="1770831">
            <a:off x="-1789340" y="7446447"/>
            <a:ext cx="3076965" cy="2092337"/>
          </a:xfrm>
          <a:custGeom>
            <a:rect b="b" l="l" r="r" t="t"/>
            <a:pathLst>
              <a:path extrusionOk="0" h="2092906" w="3077802">
                <a:moveTo>
                  <a:pt x="0" y="0"/>
                </a:moveTo>
                <a:lnTo>
                  <a:pt x="3077802" y="0"/>
                </a:lnTo>
                <a:lnTo>
                  <a:pt x="3077802" y="2092906"/>
                </a:lnTo>
                <a:lnTo>
                  <a:pt x="0" y="20929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71" name="Google Shape;171;p3"/>
          <p:cNvSpPr/>
          <p:nvPr/>
        </p:nvSpPr>
        <p:spPr>
          <a:xfrm>
            <a:off x="16679493" y="2500431"/>
            <a:ext cx="1967557" cy="1879180"/>
          </a:xfrm>
          <a:custGeom>
            <a:rect b="b" l="l" r="r" t="t"/>
            <a:pathLst>
              <a:path extrusionOk="0" h="1879180" w="1967557">
                <a:moveTo>
                  <a:pt x="0" y="0"/>
                </a:moveTo>
                <a:lnTo>
                  <a:pt x="1967557" y="0"/>
                </a:lnTo>
                <a:lnTo>
                  <a:pt x="1967557" y="1879180"/>
                </a:lnTo>
                <a:lnTo>
                  <a:pt x="0" y="18791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72" name="Google Shape;172;p3"/>
          <p:cNvSpPr/>
          <p:nvPr/>
        </p:nvSpPr>
        <p:spPr>
          <a:xfrm>
            <a:off x="199210" y="-57150"/>
            <a:ext cx="5267831" cy="1755944"/>
          </a:xfrm>
          <a:custGeom>
            <a:rect b="b" l="l" r="r" t="t"/>
            <a:pathLst>
              <a:path extrusionOk="0" h="1755944" w="5267831">
                <a:moveTo>
                  <a:pt x="0" y="0"/>
                </a:moveTo>
                <a:lnTo>
                  <a:pt x="5267831" y="0"/>
                </a:lnTo>
                <a:lnTo>
                  <a:pt x="5267831" y="1755944"/>
                </a:lnTo>
                <a:lnTo>
                  <a:pt x="0" y="17559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73" name="Google Shape;173;p3"/>
          <p:cNvSpPr/>
          <p:nvPr/>
        </p:nvSpPr>
        <p:spPr>
          <a:xfrm>
            <a:off x="14799394" y="438739"/>
            <a:ext cx="3140410" cy="764166"/>
          </a:xfrm>
          <a:custGeom>
            <a:rect b="b" l="l" r="r" t="t"/>
            <a:pathLst>
              <a:path extrusionOk="0" h="764166" w="3140410">
                <a:moveTo>
                  <a:pt x="0" y="0"/>
                </a:moveTo>
                <a:lnTo>
                  <a:pt x="3140410" y="0"/>
                </a:lnTo>
                <a:lnTo>
                  <a:pt x="3140410" y="764166"/>
                </a:lnTo>
                <a:lnTo>
                  <a:pt x="0" y="7641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74" name="Google Shape;174;p3"/>
          <p:cNvSpPr/>
          <p:nvPr/>
        </p:nvSpPr>
        <p:spPr>
          <a:xfrm>
            <a:off x="16056873" y="8944972"/>
            <a:ext cx="2125396" cy="1416931"/>
          </a:xfrm>
          <a:custGeom>
            <a:rect b="b" l="l" r="r" t="t"/>
            <a:pathLst>
              <a:path extrusionOk="0" h="1416931" w="2125396">
                <a:moveTo>
                  <a:pt x="0" y="0"/>
                </a:moveTo>
                <a:lnTo>
                  <a:pt x="2125396" y="0"/>
                </a:lnTo>
                <a:lnTo>
                  <a:pt x="2125396" y="1416931"/>
                </a:lnTo>
                <a:lnTo>
                  <a:pt x="0" y="141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75" name="Google Shape;175;p3"/>
          <p:cNvSpPr txBox="1"/>
          <p:nvPr/>
        </p:nvSpPr>
        <p:spPr>
          <a:xfrm>
            <a:off x="1352700" y="1760025"/>
            <a:ext cx="88107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rPr sz="4500" b="1">
                <a:solidFill>
                  <a:srgbClr val="486AFD"/>
                </a:solidFill>
                <a:latin typeface="Open Sans"/>
              </a:rPr>
              <a:t>OUR APPROACH</a:t>
            </a:r>
          </a:p>
        </p:txBody>
      </p:sp>
      <p:grpSp>
        <p:nvGrpSpPr>
          <p:cNvPr id="176" name="Google Shape;176;p3"/>
          <p:cNvGrpSpPr/>
          <p:nvPr/>
        </p:nvGrpSpPr>
        <p:grpSpPr>
          <a:xfrm>
            <a:off x="1333500" y="3429000"/>
            <a:ext cx="4572000" cy="4000500"/>
            <a:chOff x="0" y="0"/>
            <a:chExt cx="4572000" cy="4000500"/>
          </a:xfrm>
        </p:grpSpPr>
        <p:sp>
          <p:nvSpPr>
            <p:cNvPr id="177" name="Google Shape;177;p3"/>
            <p:cNvSpPr/>
            <p:nvPr/>
          </p:nvSpPr>
          <p:spPr>
            <a:xfrm>
              <a:off x="0" y="0"/>
              <a:ext cx="4572000" cy="4000500"/>
            </a:xfrm>
            <a:prstGeom prst="roundRect">
              <a:avLst>
                <a:gd fmla="val 4761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8" name="Google Shape;178;p3"/>
            <p:cNvGrpSpPr/>
            <p:nvPr/>
          </p:nvGrpSpPr>
          <p:grpSpPr>
            <a:xfrm>
              <a:off x="381000" y="381000"/>
              <a:ext cx="3810000" cy="3238500"/>
              <a:chOff x="0" y="0"/>
              <a:chExt cx="3810000" cy="3238500"/>
            </a:xfrm>
          </p:grpSpPr>
          <p:sp>
            <p:nvSpPr>
              <p:cNvPr id="179" name="Google Shape;179;p3"/>
              <p:cNvSpPr/>
              <p:nvPr/>
            </p:nvSpPr>
            <p:spPr>
              <a:xfrm>
                <a:off x="0" y="0"/>
                <a:ext cx="3810000" cy="3238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3"/>
              <p:cNvSpPr txBox="1"/>
              <p:nvPr/>
            </p:nvSpPr>
            <p:spPr>
              <a:xfrm>
                <a:off x="0" y="0"/>
                <a:ext cx="3810000" cy="323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/>
              <a:lstStyle/>
              <a:p>
                <a:pPr indent="0" lvl="0" marL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None/>
                </a:pPr>
                <a:r>
                  <a:rPr sz="4000" b="0" i="0">
                    <a:solidFill>
                      <a:srgbClr val="486AFD"/>
                    </a:solidFill>
                    <a:latin typeface="Open Sans ExtraBold"/>
                  </a:rPr>
                  <a:t>01</a:t>
                </a:r>
                <a:endParaRPr b="0" sz="4400">
                  <a:solidFill>
                    <a:srgbClr val="486AFD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700"/>
                  </a:spcAft>
                </a:pPr>
                <a:r>
                  <a:rPr sz="2200" b="1" i="0">
                    <a:solidFill>
                      <a:srgbClr val="1E293B"/>
                    </a:solidFill>
                    <a:latin typeface="Open Sans"/>
                  </a:rPr>
                  <a:t>The Idea</a:t>
                </a:r>
              </a:p>
              <a:p>
                <a:pPr algn="l">
                  <a:lnSpc>
                    <a:spcPct val="108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450" b="0" i="0">
                    <a:solidFill>
                      <a:srgbClr val="475569"/>
                    </a:solidFill>
                    <a:latin typeface="Open Sans"/>
                  </a:rPr>
                  <a:t>A pipe-mounted sensor-and-actuator pod that converts continuous water-quality readings into an immediate compliance action at the discharge point.</a:t>
                </a:r>
              </a:p>
            </p:txBody>
          </p:sp>
        </p:grpSp>
      </p:grpSp>
      <p:grpSp>
        <p:nvGrpSpPr>
          <p:cNvPr id="181" name="Google Shape;181;p3"/>
          <p:cNvGrpSpPr/>
          <p:nvPr/>
        </p:nvGrpSpPr>
        <p:grpSpPr>
          <a:xfrm>
            <a:off x="6477000" y="3429000"/>
            <a:ext cx="4572000" cy="4000500"/>
            <a:chOff x="0" y="0"/>
            <a:chExt cx="4572000" cy="4000500"/>
          </a:xfrm>
        </p:grpSpPr>
        <p:sp>
          <p:nvSpPr>
            <p:cNvPr id="182" name="Google Shape;182;p3"/>
            <p:cNvSpPr/>
            <p:nvPr/>
          </p:nvSpPr>
          <p:spPr>
            <a:xfrm>
              <a:off x="0" y="0"/>
              <a:ext cx="4572000" cy="4000500"/>
            </a:xfrm>
            <a:prstGeom prst="roundRect">
              <a:avLst>
                <a:gd fmla="val 4761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3" name="Google Shape;183;p3"/>
            <p:cNvGrpSpPr/>
            <p:nvPr/>
          </p:nvGrpSpPr>
          <p:grpSpPr>
            <a:xfrm>
              <a:off x="381000" y="381000"/>
              <a:ext cx="3810000" cy="3238500"/>
              <a:chOff x="0" y="0"/>
              <a:chExt cx="3810000" cy="3238500"/>
            </a:xfrm>
          </p:grpSpPr>
          <p:sp>
            <p:nvSpPr>
              <p:cNvPr id="184" name="Google Shape;184;p3"/>
              <p:cNvSpPr/>
              <p:nvPr/>
            </p:nvSpPr>
            <p:spPr>
              <a:xfrm>
                <a:off x="0" y="0"/>
                <a:ext cx="3810000" cy="3238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3"/>
              <p:cNvSpPr txBox="1"/>
              <p:nvPr/>
            </p:nvSpPr>
            <p:spPr>
              <a:xfrm>
                <a:off x="0" y="0"/>
                <a:ext cx="3810000" cy="323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/>
              <a:lstStyle/>
              <a:p>
                <a:pPr indent="0" lvl="0" marL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None/>
                </a:pPr>
                <a:r>
                  <a:rPr sz="4000" b="0" i="0">
                    <a:solidFill>
                      <a:srgbClr val="486AFD"/>
                    </a:solidFill>
                    <a:latin typeface="Open Sans ExtraBold"/>
                  </a:rPr>
                  <a:t>02</a:t>
                </a:r>
                <a:endParaRPr b="0" sz="4400">
                  <a:solidFill>
                    <a:srgbClr val="486AFD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700"/>
                  </a:spcAft>
                </a:pPr>
                <a:r>
                  <a:rPr sz="2200" b="1" i="0">
                    <a:solidFill>
                      <a:srgbClr val="1E293B"/>
                    </a:solidFill>
                    <a:latin typeface="Open Sans"/>
                  </a:rPr>
                  <a:t>How It Works</a:t>
                </a:r>
              </a:p>
              <a:p>
                <a:pPr algn="l">
                  <a:lnSpc>
                    <a:spcPct val="108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80" b="0" i="0">
                    <a:solidFill>
                      <a:srgbClr val="475569"/>
                    </a:solidFill>
                    <a:latin typeface="Open Sans"/>
                  </a:rPr>
                  <a:t>pH, TDS, turbidity and RGB sensors feed a weighted rule-based fusion classifier on an ESP32. Compliant flow continues; non-compliant flow is diverted by a solenoid valve.</a:t>
                </a:r>
              </a:p>
            </p:txBody>
          </p:sp>
        </p:grpSp>
      </p:grpSp>
      <p:grpSp>
        <p:nvGrpSpPr>
          <p:cNvPr id="186" name="Google Shape;186;p3"/>
          <p:cNvGrpSpPr/>
          <p:nvPr/>
        </p:nvGrpSpPr>
        <p:grpSpPr>
          <a:xfrm>
            <a:off x="11620500" y="3429000"/>
            <a:ext cx="4572000" cy="4000500"/>
            <a:chOff x="0" y="0"/>
            <a:chExt cx="4572000" cy="4000500"/>
          </a:xfrm>
        </p:grpSpPr>
        <p:sp>
          <p:nvSpPr>
            <p:cNvPr id="187" name="Google Shape;187;p3"/>
            <p:cNvSpPr/>
            <p:nvPr/>
          </p:nvSpPr>
          <p:spPr>
            <a:xfrm>
              <a:off x="0" y="0"/>
              <a:ext cx="4572000" cy="4000500"/>
            </a:xfrm>
            <a:prstGeom prst="roundRect">
              <a:avLst>
                <a:gd fmla="val 4761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8" name="Google Shape;188;p3"/>
            <p:cNvGrpSpPr/>
            <p:nvPr/>
          </p:nvGrpSpPr>
          <p:grpSpPr>
            <a:xfrm>
              <a:off x="381000" y="381000"/>
              <a:ext cx="3810000" cy="3238500"/>
              <a:chOff x="0" y="0"/>
              <a:chExt cx="3810000" cy="3238500"/>
            </a:xfrm>
          </p:grpSpPr>
          <p:sp>
            <p:nvSpPr>
              <p:cNvPr id="189" name="Google Shape;189;p3"/>
              <p:cNvSpPr/>
              <p:nvPr/>
            </p:nvSpPr>
            <p:spPr>
              <a:xfrm>
                <a:off x="0" y="0"/>
                <a:ext cx="3810000" cy="3238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3"/>
              <p:cNvSpPr txBox="1"/>
              <p:nvPr/>
            </p:nvSpPr>
            <p:spPr>
              <a:xfrm>
                <a:off x="0" y="0"/>
                <a:ext cx="3810000" cy="323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/>
              <a:lstStyle/>
              <a:p>
                <a:pPr indent="0" lvl="0" marL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None/>
                </a:pPr>
                <a:r>
                  <a:rPr sz="4000" b="0" i="0">
                    <a:solidFill>
                      <a:srgbClr val="486AFD"/>
                    </a:solidFill>
                    <a:latin typeface="Open Sans ExtraBold"/>
                  </a:rPr>
                  <a:t>03</a:t>
                </a:r>
                <a:endParaRPr b="0" sz="4400">
                  <a:solidFill>
                    <a:srgbClr val="486AFD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700"/>
                  </a:spcAft>
                </a:pPr>
                <a:r>
                  <a:rPr sz="2200" b="1" i="0">
                    <a:solidFill>
                      <a:srgbClr val="1E293B"/>
                    </a:solidFill>
                    <a:latin typeface="Open Sans"/>
                  </a:rPr>
                  <a:t>Sense → Classify → Decide → Act</a:t>
                </a:r>
              </a:p>
              <a:p>
                <a:pPr algn="l">
                  <a:lnSpc>
                    <a:spcPct val="108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475569"/>
                    </a:solidFill>
                    <a:latin typeface="Open Sans"/>
                  </a:rPr>
                  <a:t>Decision loop: sensing (~1 s), classification (~1 s), decision (~0.5 s) and valve actuation (~1.5–2 s). Fail-safe design defaults to DIVERT on sensor fault or power loss.</a:t>
                </a: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"/>
          <p:cNvSpPr/>
          <p:nvPr/>
        </p:nvSpPr>
        <p:spPr>
          <a:xfrm rot="1952229">
            <a:off x="16582574" y="3024474"/>
            <a:ext cx="3681941" cy="4213954"/>
          </a:xfrm>
          <a:custGeom>
            <a:rect b="b" l="l" r="r" t="t"/>
            <a:pathLst>
              <a:path extrusionOk="0" h="4216669" w="3684314">
                <a:moveTo>
                  <a:pt x="0" y="0"/>
                </a:moveTo>
                <a:lnTo>
                  <a:pt x="3684314" y="0"/>
                </a:lnTo>
                <a:lnTo>
                  <a:pt x="3684314" y="4216669"/>
                </a:lnTo>
                <a:lnTo>
                  <a:pt x="0" y="42166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96" name="Google Shape;196;p4"/>
          <p:cNvSpPr/>
          <p:nvPr/>
        </p:nvSpPr>
        <p:spPr>
          <a:xfrm rot="744277">
            <a:off x="-3111650" y="4768904"/>
            <a:ext cx="4072028" cy="4118360"/>
          </a:xfrm>
          <a:custGeom>
            <a:rect b="b" l="l" r="r" t="t"/>
            <a:pathLst>
              <a:path extrusionOk="0" h="4114800" w="4068508">
                <a:moveTo>
                  <a:pt x="0" y="0"/>
                </a:moveTo>
                <a:lnTo>
                  <a:pt x="4068508" y="0"/>
                </a:lnTo>
                <a:lnTo>
                  <a:pt x="4068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97" name="Google Shape;197;p4"/>
          <p:cNvSpPr/>
          <p:nvPr/>
        </p:nvSpPr>
        <p:spPr>
          <a:xfrm>
            <a:off x="17736411" y="6274217"/>
            <a:ext cx="891716" cy="754202"/>
          </a:xfrm>
          <a:custGeom>
            <a:rect b="b" l="l" r="r" t="t"/>
            <a:pathLst>
              <a:path extrusionOk="0" h="754202" w="891716">
                <a:moveTo>
                  <a:pt x="0" y="0"/>
                </a:moveTo>
                <a:lnTo>
                  <a:pt x="891716" y="0"/>
                </a:lnTo>
                <a:lnTo>
                  <a:pt x="891716" y="754202"/>
                </a:lnTo>
                <a:lnTo>
                  <a:pt x="0" y="7542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98" name="Google Shape;198;p4"/>
          <p:cNvSpPr/>
          <p:nvPr/>
        </p:nvSpPr>
        <p:spPr>
          <a:xfrm rot="1770831">
            <a:off x="-1789340" y="7446447"/>
            <a:ext cx="3076965" cy="2092337"/>
          </a:xfrm>
          <a:custGeom>
            <a:rect b="b" l="l" r="r" t="t"/>
            <a:pathLst>
              <a:path extrusionOk="0" h="2092906" w="3077802">
                <a:moveTo>
                  <a:pt x="0" y="0"/>
                </a:moveTo>
                <a:lnTo>
                  <a:pt x="3077802" y="0"/>
                </a:lnTo>
                <a:lnTo>
                  <a:pt x="3077802" y="2092906"/>
                </a:lnTo>
                <a:lnTo>
                  <a:pt x="0" y="20929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99" name="Google Shape;199;p4"/>
          <p:cNvSpPr/>
          <p:nvPr/>
        </p:nvSpPr>
        <p:spPr>
          <a:xfrm>
            <a:off x="16679493" y="2500431"/>
            <a:ext cx="1967557" cy="1879180"/>
          </a:xfrm>
          <a:custGeom>
            <a:rect b="b" l="l" r="r" t="t"/>
            <a:pathLst>
              <a:path extrusionOk="0" h="1879180" w="1967557">
                <a:moveTo>
                  <a:pt x="0" y="0"/>
                </a:moveTo>
                <a:lnTo>
                  <a:pt x="1967557" y="0"/>
                </a:lnTo>
                <a:lnTo>
                  <a:pt x="1967557" y="1879180"/>
                </a:lnTo>
                <a:lnTo>
                  <a:pt x="0" y="18791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00" name="Google Shape;200;p4"/>
          <p:cNvSpPr/>
          <p:nvPr/>
        </p:nvSpPr>
        <p:spPr>
          <a:xfrm>
            <a:off x="199210" y="-57150"/>
            <a:ext cx="5267831" cy="1755944"/>
          </a:xfrm>
          <a:custGeom>
            <a:rect b="b" l="l" r="r" t="t"/>
            <a:pathLst>
              <a:path extrusionOk="0" h="1755944" w="5267831">
                <a:moveTo>
                  <a:pt x="0" y="0"/>
                </a:moveTo>
                <a:lnTo>
                  <a:pt x="5267831" y="0"/>
                </a:lnTo>
                <a:lnTo>
                  <a:pt x="5267831" y="1755944"/>
                </a:lnTo>
                <a:lnTo>
                  <a:pt x="0" y="17559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01" name="Google Shape;201;p4"/>
          <p:cNvSpPr/>
          <p:nvPr/>
        </p:nvSpPr>
        <p:spPr>
          <a:xfrm>
            <a:off x="14799394" y="438739"/>
            <a:ext cx="3140410" cy="764166"/>
          </a:xfrm>
          <a:custGeom>
            <a:rect b="b" l="l" r="r" t="t"/>
            <a:pathLst>
              <a:path extrusionOk="0" h="764166" w="3140410">
                <a:moveTo>
                  <a:pt x="0" y="0"/>
                </a:moveTo>
                <a:lnTo>
                  <a:pt x="3140410" y="0"/>
                </a:lnTo>
                <a:lnTo>
                  <a:pt x="3140410" y="764166"/>
                </a:lnTo>
                <a:lnTo>
                  <a:pt x="0" y="7641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02" name="Google Shape;202;p4"/>
          <p:cNvSpPr/>
          <p:nvPr/>
        </p:nvSpPr>
        <p:spPr>
          <a:xfrm>
            <a:off x="16056873" y="8944972"/>
            <a:ext cx="2125396" cy="1416931"/>
          </a:xfrm>
          <a:custGeom>
            <a:rect b="b" l="l" r="r" t="t"/>
            <a:pathLst>
              <a:path extrusionOk="0" h="1416931" w="2125396">
                <a:moveTo>
                  <a:pt x="0" y="0"/>
                </a:moveTo>
                <a:lnTo>
                  <a:pt x="2125396" y="0"/>
                </a:lnTo>
                <a:lnTo>
                  <a:pt x="2125396" y="1416931"/>
                </a:lnTo>
                <a:lnTo>
                  <a:pt x="0" y="141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03" name="Google Shape;203;p4"/>
          <p:cNvSpPr txBox="1"/>
          <p:nvPr/>
        </p:nvSpPr>
        <p:spPr>
          <a:xfrm>
            <a:off x="1333500" y="1714500"/>
            <a:ext cx="9525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1" i="0">
                <a:solidFill>
                  <a:srgbClr val="486AFD"/>
                </a:solidFill>
                <a:latin typeface="Open Sans"/>
              </a:rPr>
              <a:t>Innovation &amp; Differentiation</a:t>
            </a:r>
            <a:endParaRPr b="1" sz="1600">
              <a:solidFill>
                <a:srgbClr val="486AF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 i="0">
                <a:solidFill>
                  <a:srgbClr val="1E293B"/>
                </a:solidFill>
                <a:latin typeface="Open Sans ExtraBold"/>
              </a:rPr>
              <a:t>WHAT SETS US APART</a:t>
            </a:r>
          </a:p>
        </p:txBody>
      </p:sp>
      <p:grpSp>
        <p:nvGrpSpPr>
          <p:cNvPr id="204" name="Google Shape;204;p4"/>
          <p:cNvGrpSpPr/>
          <p:nvPr/>
        </p:nvGrpSpPr>
        <p:grpSpPr>
          <a:xfrm>
            <a:off x="1333500" y="3238500"/>
            <a:ext cx="4953000" cy="4381500"/>
            <a:chOff x="0" y="0"/>
            <a:chExt cx="4953000" cy="4381500"/>
          </a:xfrm>
        </p:grpSpPr>
        <p:sp>
          <p:nvSpPr>
            <p:cNvPr id="205" name="Google Shape;205;p4"/>
            <p:cNvSpPr/>
            <p:nvPr/>
          </p:nvSpPr>
          <p:spPr>
            <a:xfrm>
              <a:off x="0" y="0"/>
              <a:ext cx="4953000" cy="4381500"/>
            </a:xfrm>
            <a:prstGeom prst="roundRect">
              <a:avLst>
                <a:gd fmla="val 4347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4"/>
            <p:cNvSpPr txBox="1"/>
            <p:nvPr/>
          </p:nvSpPr>
          <p:spPr>
            <a:xfrm>
              <a:off x="381000" y="381000"/>
              <a:ext cx="41910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/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700"/>
                </a:spcAft>
                <a:buNone/>
              </a:pPr>
              <a:r>
                <a:rPr sz="2200" b="1" i="0">
                  <a:solidFill>
                    <a:srgbClr val="1E293B"/>
                  </a:solidFill>
                  <a:latin typeface="Open Sans"/>
                </a:rPr>
                <a:t>Why ChromaGuard Stands Out</a:t>
              </a:r>
              <a:endParaRPr b="1" sz="240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1320" b="1" i="0">
                  <a:solidFill>
                    <a:srgbClr val="486AFD"/>
                  </a:solidFill>
                  <a:latin typeface="Open Sans"/>
                </a:rPr>
                <a:t>• Uniqueness: </a:t>
              </a:r>
              <a:r>
                <a:rPr sz="1320" b="0" i="0">
                  <a:solidFill>
                    <a:srgbClr val="475569"/>
                  </a:solidFill>
                  <a:latin typeface="Open Sans"/>
                </a:rPr>
                <a:t>Detect + act in one device, not monitoring alone.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1320" b="1" i="0">
                  <a:solidFill>
                    <a:srgbClr val="486AFD"/>
                  </a:solidFill>
                  <a:latin typeface="Open Sans"/>
                </a:rPr>
                <a:t>• Speed: </a:t>
              </a:r>
              <a:r>
                <a:rPr sz="1320" b="0" i="0">
                  <a:solidFill>
                    <a:srgbClr val="475569"/>
                  </a:solidFill>
                  <a:latin typeface="Open Sans"/>
                </a:rPr>
                <a:t>Classifies and actuates in under five seconds.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1320" b="1" i="0">
                  <a:solidFill>
                    <a:srgbClr val="486AFD"/>
                  </a:solidFill>
                  <a:latin typeface="Open Sans"/>
                </a:rPr>
                <a:t>• Accountability: </a:t>
              </a:r>
              <a:r>
                <a:rPr sz="1320" b="0" i="0">
                  <a:solidFill>
                    <a:srgbClr val="475569"/>
                  </a:solidFill>
                  <a:latin typeface="Open Sans"/>
                </a:rPr>
                <a:t>Tamper-evident event and bypass logs.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1320" b="1" i="0">
                  <a:solidFill>
                    <a:srgbClr val="486AFD"/>
                  </a:solidFill>
                  <a:latin typeface="Open Sans"/>
                </a:rPr>
                <a:t>• Modularity: </a:t>
              </a:r>
              <a:r>
                <a:rPr sz="1320" b="0" i="0">
                  <a:solidFill>
                    <a:srgbClr val="475569"/>
                  </a:solidFill>
                  <a:latin typeface="Open Sans"/>
                </a:rPr>
                <a:t>Plan A detects + diverts; Plan B adds a holding tank and dosing buffer.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1320" b="1" i="0">
                  <a:solidFill>
                    <a:srgbClr val="486AFD"/>
                  </a:solidFill>
                  <a:latin typeface="Open Sans"/>
                </a:rPr>
                <a:t>• Accessibility: </a:t>
              </a:r>
              <a:r>
                <a:rPr sz="1320" b="0" i="0">
                  <a:solidFill>
                    <a:srgbClr val="475569"/>
                  </a:solidFill>
                  <a:latin typeface="Open Sans"/>
                </a:rPr>
                <a:t>Low-cost prototype path designed for smaller units.</a:t>
              </a:r>
            </a:p>
          </p:txBody>
        </p:sp>
      </p:grpSp>
      <p:sp>
        <p:nvSpPr>
          <p:cNvPr id="207" name="Google Shape;207;p4"/>
          <p:cNvSpPr/>
          <p:nvPr/>
        </p:nvSpPr>
        <p:spPr>
          <a:xfrm>
            <a:off x="6667500" y="3238500"/>
            <a:ext cx="7810500" cy="4381500"/>
          </a:xfrm>
          <a:prstGeom prst="roundRect">
            <a:avLst>
              <a:gd fmla="val 4347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8" name="Google Shape;208;p4"/>
          <p:cNvCxnSpPr/>
          <p:nvPr/>
        </p:nvCxnSpPr>
        <p:spPr>
          <a:xfrm>
            <a:off x="10572750" y="4191000"/>
            <a:ext cx="0" cy="28575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" name="Google Shape;209;p4"/>
          <p:cNvSpPr txBox="1"/>
          <p:nvPr/>
        </p:nvSpPr>
        <p:spPr>
          <a:xfrm>
            <a:off x="7048500" y="3524250"/>
            <a:ext cx="70485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64748B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US VS. THE REST</a:t>
            </a:r>
            <a:endParaRPr b="0" sz="1800">
              <a:solidFill>
                <a:srgbClr val="64748B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210" name="Google Shape;210;p4"/>
          <p:cNvSpPr txBox="1"/>
          <p:nvPr/>
        </p:nvSpPr>
        <p:spPr>
          <a:xfrm>
            <a:off x="7048500" y="4191000"/>
            <a:ext cx="32385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500" b="1" i="0">
                <a:solidFill>
                  <a:srgbClr val="94A3B8"/>
                </a:solidFill>
                <a:latin typeface="Open Sans"/>
              </a:rPr>
              <a:t>EXISTING SOLUTIONS</a:t>
            </a:r>
            <a:endParaRPr b="1" sz="1600">
              <a:solidFill>
                <a:srgbClr val="94A3B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 i="0">
                <a:solidFill>
                  <a:srgbClr val="94A3B8"/>
                </a:solidFill>
                <a:latin typeface="Open Sans"/>
              </a:rPr>
              <a:t>• Lab result in 2–5 days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 i="0">
                <a:solidFill>
                  <a:srgbClr val="94A3B8"/>
                </a:solidFill>
                <a:latin typeface="Open Sans"/>
              </a:rPr>
              <a:t>• Detects after discharge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 i="0">
                <a:solidFill>
                  <a:srgbClr val="94A3B8"/>
                </a:solidFill>
                <a:latin typeface="Open Sans"/>
              </a:rPr>
              <a:t>• Requires a human response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 i="0">
                <a:solidFill>
                  <a:srgbClr val="94A3B8"/>
                </a:solidFill>
                <a:latin typeface="Open Sans"/>
              </a:rPr>
              <a:t>• No continuous audit trail</a:t>
            </a:r>
          </a:p>
        </p:txBody>
      </p:sp>
      <p:sp>
        <p:nvSpPr>
          <p:cNvPr id="211" name="Google Shape;211;p4"/>
          <p:cNvSpPr txBox="1"/>
          <p:nvPr/>
        </p:nvSpPr>
        <p:spPr>
          <a:xfrm>
            <a:off x="10668000" y="4191000"/>
            <a:ext cx="32385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500" b="1" i="0">
                <a:solidFill>
                  <a:srgbClr val="486AFD"/>
                </a:solidFill>
                <a:latin typeface="Open Sans"/>
              </a:rPr>
              <a:t>CHROMAGUARD</a:t>
            </a:r>
            <a:endParaRPr b="1" sz="1600">
              <a:solidFill>
                <a:srgbClr val="486AF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1" i="0">
                <a:solidFill>
                  <a:srgbClr val="1E293B"/>
                </a:solidFill>
                <a:latin typeface="Open Sans"/>
              </a:rPr>
              <a:t>• Classifies + acts in &lt;5 seconds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1" i="0">
                <a:solidFill>
                  <a:srgbClr val="1E293B"/>
                </a:solidFill>
                <a:latin typeface="Open Sans"/>
              </a:rPr>
              <a:t>• Diverts before release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1" i="0">
                <a:solidFill>
                  <a:srgbClr val="1E293B"/>
                </a:solidFill>
                <a:latin typeface="Open Sans"/>
              </a:rPr>
              <a:t>• Fully automated intervention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1" i="0">
                <a:solidFill>
                  <a:srgbClr val="1E293B"/>
                </a:solidFill>
                <a:latin typeface="Open Sans"/>
              </a:rPr>
              <a:t>• Tamper-evident action log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"/>
          <p:cNvSpPr/>
          <p:nvPr/>
        </p:nvSpPr>
        <p:spPr>
          <a:xfrm rot="1952229">
            <a:off x="16582574" y="3024474"/>
            <a:ext cx="3681941" cy="4213954"/>
          </a:xfrm>
          <a:custGeom>
            <a:rect b="b" l="l" r="r" t="t"/>
            <a:pathLst>
              <a:path extrusionOk="0" h="4216669" w="3684314">
                <a:moveTo>
                  <a:pt x="0" y="0"/>
                </a:moveTo>
                <a:lnTo>
                  <a:pt x="3684314" y="0"/>
                </a:lnTo>
                <a:lnTo>
                  <a:pt x="3684314" y="4216669"/>
                </a:lnTo>
                <a:lnTo>
                  <a:pt x="0" y="42166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17" name="Google Shape;217;p5"/>
          <p:cNvSpPr/>
          <p:nvPr/>
        </p:nvSpPr>
        <p:spPr>
          <a:xfrm rot="744277">
            <a:off x="-3111650" y="4768904"/>
            <a:ext cx="4072028" cy="4118360"/>
          </a:xfrm>
          <a:custGeom>
            <a:rect b="b" l="l" r="r" t="t"/>
            <a:pathLst>
              <a:path extrusionOk="0" h="4114800" w="4068508">
                <a:moveTo>
                  <a:pt x="0" y="0"/>
                </a:moveTo>
                <a:lnTo>
                  <a:pt x="4068508" y="0"/>
                </a:lnTo>
                <a:lnTo>
                  <a:pt x="4068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18" name="Google Shape;218;p5"/>
          <p:cNvSpPr/>
          <p:nvPr/>
        </p:nvSpPr>
        <p:spPr>
          <a:xfrm>
            <a:off x="17736411" y="6274217"/>
            <a:ext cx="891716" cy="754202"/>
          </a:xfrm>
          <a:custGeom>
            <a:rect b="b" l="l" r="r" t="t"/>
            <a:pathLst>
              <a:path extrusionOk="0" h="754202" w="891716">
                <a:moveTo>
                  <a:pt x="0" y="0"/>
                </a:moveTo>
                <a:lnTo>
                  <a:pt x="891716" y="0"/>
                </a:lnTo>
                <a:lnTo>
                  <a:pt x="891716" y="754202"/>
                </a:lnTo>
                <a:lnTo>
                  <a:pt x="0" y="7542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19" name="Google Shape;219;p5"/>
          <p:cNvSpPr/>
          <p:nvPr/>
        </p:nvSpPr>
        <p:spPr>
          <a:xfrm rot="1770831">
            <a:off x="-1789340" y="7446447"/>
            <a:ext cx="3076965" cy="2092337"/>
          </a:xfrm>
          <a:custGeom>
            <a:rect b="b" l="l" r="r" t="t"/>
            <a:pathLst>
              <a:path extrusionOk="0" h="2092906" w="3077802">
                <a:moveTo>
                  <a:pt x="0" y="0"/>
                </a:moveTo>
                <a:lnTo>
                  <a:pt x="3077802" y="0"/>
                </a:lnTo>
                <a:lnTo>
                  <a:pt x="3077802" y="2092906"/>
                </a:lnTo>
                <a:lnTo>
                  <a:pt x="0" y="20929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20" name="Google Shape;220;p5"/>
          <p:cNvSpPr/>
          <p:nvPr/>
        </p:nvSpPr>
        <p:spPr>
          <a:xfrm>
            <a:off x="16679493" y="2500431"/>
            <a:ext cx="1967557" cy="1879180"/>
          </a:xfrm>
          <a:custGeom>
            <a:rect b="b" l="l" r="r" t="t"/>
            <a:pathLst>
              <a:path extrusionOk="0" h="1879180" w="1967557">
                <a:moveTo>
                  <a:pt x="0" y="0"/>
                </a:moveTo>
                <a:lnTo>
                  <a:pt x="1967557" y="0"/>
                </a:lnTo>
                <a:lnTo>
                  <a:pt x="1967557" y="1879180"/>
                </a:lnTo>
                <a:lnTo>
                  <a:pt x="0" y="18791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21" name="Google Shape;221;p5"/>
          <p:cNvSpPr/>
          <p:nvPr/>
        </p:nvSpPr>
        <p:spPr>
          <a:xfrm>
            <a:off x="199210" y="-57150"/>
            <a:ext cx="5267831" cy="1755944"/>
          </a:xfrm>
          <a:custGeom>
            <a:rect b="b" l="l" r="r" t="t"/>
            <a:pathLst>
              <a:path extrusionOk="0" h="1755944" w="5267831">
                <a:moveTo>
                  <a:pt x="0" y="0"/>
                </a:moveTo>
                <a:lnTo>
                  <a:pt x="5267831" y="0"/>
                </a:lnTo>
                <a:lnTo>
                  <a:pt x="5267831" y="1755944"/>
                </a:lnTo>
                <a:lnTo>
                  <a:pt x="0" y="17559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22" name="Google Shape;222;p5"/>
          <p:cNvSpPr/>
          <p:nvPr/>
        </p:nvSpPr>
        <p:spPr>
          <a:xfrm>
            <a:off x="14799394" y="438739"/>
            <a:ext cx="3140410" cy="764166"/>
          </a:xfrm>
          <a:custGeom>
            <a:rect b="b" l="l" r="r" t="t"/>
            <a:pathLst>
              <a:path extrusionOk="0" h="764166" w="3140410">
                <a:moveTo>
                  <a:pt x="0" y="0"/>
                </a:moveTo>
                <a:lnTo>
                  <a:pt x="3140410" y="0"/>
                </a:lnTo>
                <a:lnTo>
                  <a:pt x="3140410" y="764166"/>
                </a:lnTo>
                <a:lnTo>
                  <a:pt x="0" y="7641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23" name="Google Shape;223;p5"/>
          <p:cNvSpPr/>
          <p:nvPr/>
        </p:nvSpPr>
        <p:spPr>
          <a:xfrm>
            <a:off x="16056873" y="8944972"/>
            <a:ext cx="2125396" cy="1416931"/>
          </a:xfrm>
          <a:custGeom>
            <a:rect b="b" l="l" r="r" t="t"/>
            <a:pathLst>
              <a:path extrusionOk="0" h="1416931" w="2125396">
                <a:moveTo>
                  <a:pt x="0" y="0"/>
                </a:moveTo>
                <a:lnTo>
                  <a:pt x="2125396" y="0"/>
                </a:lnTo>
                <a:lnTo>
                  <a:pt x="2125396" y="1416931"/>
                </a:lnTo>
                <a:lnTo>
                  <a:pt x="0" y="141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24" name="Google Shape;224;p5"/>
          <p:cNvSpPr txBox="1"/>
          <p:nvPr/>
        </p:nvSpPr>
        <p:spPr>
          <a:xfrm>
            <a:off x="1333500" y="1714500"/>
            <a:ext cx="9525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1" i="0">
                <a:solidFill>
                  <a:srgbClr val="486AFD"/>
                </a:solidFill>
                <a:latin typeface="Open Sans"/>
              </a:rPr>
              <a:t>Market Potential &amp; Impact</a:t>
            </a:r>
            <a:endParaRPr b="1" sz="1600">
              <a:solidFill>
                <a:srgbClr val="486AF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 i="0">
                <a:solidFill>
                  <a:srgbClr val="1E293B"/>
                </a:solidFill>
                <a:latin typeface="Open Sans ExtraBold"/>
              </a:rPr>
              <a:t>REACH &amp; RELEVANCE</a:t>
            </a:r>
          </a:p>
        </p:txBody>
      </p:sp>
      <p:grpSp>
        <p:nvGrpSpPr>
          <p:cNvPr id="225" name="Google Shape;225;p5"/>
          <p:cNvGrpSpPr/>
          <p:nvPr/>
        </p:nvGrpSpPr>
        <p:grpSpPr>
          <a:xfrm>
            <a:off x="1333500" y="3238500"/>
            <a:ext cx="4953000" cy="4381500"/>
            <a:chOff x="0" y="0"/>
            <a:chExt cx="4953000" cy="4381500"/>
          </a:xfrm>
        </p:grpSpPr>
        <p:sp>
          <p:nvSpPr>
            <p:cNvPr id="226" name="Google Shape;226;p5"/>
            <p:cNvSpPr/>
            <p:nvPr/>
          </p:nvSpPr>
          <p:spPr>
            <a:xfrm>
              <a:off x="0" y="0"/>
              <a:ext cx="4953000" cy="4381500"/>
            </a:xfrm>
            <a:prstGeom prst="roundRect">
              <a:avLst>
                <a:gd fmla="val 4347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5"/>
            <p:cNvSpPr txBox="1"/>
            <p:nvPr/>
          </p:nvSpPr>
          <p:spPr>
            <a:xfrm>
              <a:off x="381000" y="381000"/>
              <a:ext cx="4191000" cy="3619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/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sz="2100" b="1" i="0">
                  <a:solidFill>
                    <a:srgbClr val="486AFD"/>
                  </a:solidFill>
                  <a:latin typeface="Open Sans"/>
                </a:rPr>
                <a:t>Why This Matters</a:t>
              </a:r>
              <a:endParaRPr b="1" sz="24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algn="l">
                <a:lnSpc>
                  <a:spcPct val="104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1320" b="0" i="0">
                  <a:solidFill>
                    <a:srgbClr val="475569"/>
                  </a:solidFill>
                  <a:latin typeface="Open Sans"/>
                </a:rPr>
                <a:t>Environmental: prevents untreated dye effluent from reaching rivers and groundwater.</a:t>
              </a:r>
            </a:p>
            <a:p>
              <a:pPr algn="l">
                <a:lnSpc>
                  <a:spcPct val="104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1320" b="0" i="0">
                  <a:solidFill>
                    <a:srgbClr val="475569"/>
                  </a:solidFill>
                  <a:latin typeface="Open Sans"/>
                </a:rPr>
                <a:t>Economic: reduces penalty and shutdown risk for compliant units.</a:t>
              </a:r>
            </a:p>
            <a:p>
              <a:pPr algn="l">
                <a:lnSpc>
                  <a:spcPct val="104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1320" b="0" i="0">
                  <a:solidFill>
                    <a:srgbClr val="475569"/>
                  </a:solidFill>
                  <a:latin typeface="Open Sans"/>
                </a:rPr>
                <a:t>Social: improves source accountability and protects nearby farming communities.</a:t>
              </a:r>
            </a:p>
          </p:txBody>
        </p:sp>
      </p:grpSp>
      <p:grpSp>
        <p:nvGrpSpPr>
          <p:cNvPr id="228" name="Google Shape;228;p5"/>
          <p:cNvGrpSpPr/>
          <p:nvPr/>
        </p:nvGrpSpPr>
        <p:grpSpPr>
          <a:xfrm>
            <a:off x="6667500" y="3238500"/>
            <a:ext cx="3143400" cy="4381500"/>
            <a:chOff x="0" y="0"/>
            <a:chExt cx="3143400" cy="4381500"/>
          </a:xfrm>
        </p:grpSpPr>
        <p:sp>
          <p:nvSpPr>
            <p:cNvPr id="229" name="Google Shape;229;p5"/>
            <p:cNvSpPr/>
            <p:nvPr/>
          </p:nvSpPr>
          <p:spPr>
            <a:xfrm>
              <a:off x="0" y="0"/>
              <a:ext cx="3143400" cy="4381500"/>
            </a:xfrm>
            <a:prstGeom prst="roundRect">
              <a:avLst>
                <a:gd fmla="val 6060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5"/>
            <p:cNvSpPr txBox="1"/>
            <p:nvPr/>
          </p:nvSpPr>
          <p:spPr>
            <a:xfrm>
              <a:off x="285750" y="381000"/>
              <a:ext cx="2571900" cy="3619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/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sz="1800" b="1" i="0">
                  <a:solidFill>
                    <a:srgbClr val="486AFD"/>
                  </a:solidFill>
                  <a:latin typeface="Open Sans"/>
                </a:rPr>
                <a:t>Target Users</a:t>
              </a:r>
              <a:endParaRPr b="1" sz="20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algn="l">
                <a:lnSpc>
                  <a:spcPct val="104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1270" b="0" i="0">
                  <a:solidFill>
                    <a:srgbClr val="475569"/>
                  </a:solidFill>
                  <a:latin typeface="Open Sans"/>
                </a:rPr>
                <a:t>Primary: TNPCB, municipal bodies, CETP operators and dyeing-unit owners.</a:t>
              </a:r>
            </a:p>
            <a:p>
              <a:pPr algn="l">
                <a:lnSpc>
                  <a:spcPct val="104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1270" b="0" i="0">
                  <a:solidFill>
                    <a:srgbClr val="475569"/>
                  </a:solidFill>
                  <a:latin typeface="Open Sans"/>
                </a:rPr>
                <a:t>Secondary: environmental NGOs, researchers and CSR programmes.</a:t>
              </a:r>
            </a:p>
          </p:txBody>
        </p:sp>
      </p:grpSp>
      <p:grpSp>
        <p:nvGrpSpPr>
          <p:cNvPr id="231" name="Google Shape;231;p5"/>
          <p:cNvGrpSpPr/>
          <p:nvPr/>
        </p:nvGrpSpPr>
        <p:grpSpPr>
          <a:xfrm>
            <a:off x="10096500" y="3238500"/>
            <a:ext cx="3143400" cy="4381500"/>
            <a:chOff x="0" y="0"/>
            <a:chExt cx="3143400" cy="4381500"/>
          </a:xfrm>
        </p:grpSpPr>
        <p:sp>
          <p:nvSpPr>
            <p:cNvPr id="232" name="Google Shape;232;p5"/>
            <p:cNvSpPr/>
            <p:nvPr/>
          </p:nvSpPr>
          <p:spPr>
            <a:xfrm>
              <a:off x="0" y="0"/>
              <a:ext cx="3143400" cy="4381500"/>
            </a:xfrm>
            <a:prstGeom prst="roundRect">
              <a:avLst>
                <a:gd fmla="val 6060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5"/>
            <p:cNvSpPr txBox="1"/>
            <p:nvPr/>
          </p:nvSpPr>
          <p:spPr>
            <a:xfrm>
              <a:off x="285750" y="381000"/>
              <a:ext cx="2571900" cy="3619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/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sz="1800" b="1" i="0">
                  <a:solidFill>
                    <a:srgbClr val="486AFD"/>
                  </a:solidFill>
                  <a:latin typeface="Open Sans"/>
                </a:rPr>
                <a:t>Initial Reach</a:t>
              </a:r>
              <a:endParaRPr b="1" sz="20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algn="l">
                <a:lnSpc>
                  <a:spcPct val="104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1320" b="0" i="0">
                  <a:solidFill>
                    <a:srgbClr val="475569"/>
                  </a:solidFill>
                  <a:latin typeface="Open Sans"/>
                </a:rPr>
                <a:t>700+ dyeing and bleaching units along the Noyyal basin.</a:t>
              </a:r>
            </a:p>
            <a:p>
              <a:pPr algn="l">
                <a:lnSpc>
                  <a:spcPct val="104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1320" b="0" i="0">
                  <a:solidFill>
                    <a:srgbClr val="475569"/>
                  </a:solidFill>
                  <a:latin typeface="Open Sans"/>
                </a:rPr>
                <a:t>18 operating CETPs in the Tiruppur cluster.</a:t>
              </a:r>
            </a:p>
          </p:txBody>
        </p:sp>
      </p:grpSp>
      <p:grpSp>
        <p:nvGrpSpPr>
          <p:cNvPr id="234" name="Google Shape;234;p5"/>
          <p:cNvGrpSpPr/>
          <p:nvPr/>
        </p:nvGrpSpPr>
        <p:grpSpPr>
          <a:xfrm>
            <a:off x="13525500" y="3238500"/>
            <a:ext cx="3143400" cy="4381500"/>
            <a:chOff x="0" y="0"/>
            <a:chExt cx="3143400" cy="4381500"/>
          </a:xfrm>
        </p:grpSpPr>
        <p:sp>
          <p:nvSpPr>
            <p:cNvPr id="235" name="Google Shape;235;p5"/>
            <p:cNvSpPr/>
            <p:nvPr/>
          </p:nvSpPr>
          <p:spPr>
            <a:xfrm>
              <a:off x="0" y="0"/>
              <a:ext cx="3143400" cy="4381500"/>
            </a:xfrm>
            <a:prstGeom prst="roundRect">
              <a:avLst>
                <a:gd fmla="val 6060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5"/>
            <p:cNvSpPr txBox="1"/>
            <p:nvPr/>
          </p:nvSpPr>
          <p:spPr>
            <a:xfrm>
              <a:off x="285750" y="381000"/>
              <a:ext cx="2571900" cy="3619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/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sz="1800" b="1" i="0">
                  <a:solidFill>
                    <a:srgbClr val="486AFD"/>
                  </a:solidFill>
                  <a:latin typeface="Open Sans"/>
                </a:rPr>
                <a:t>Expected Impact</a:t>
              </a:r>
              <a:endParaRPr b="1" sz="20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algn="l">
                <a:lnSpc>
                  <a:spcPct val="104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1270" b="0" i="0">
                  <a:solidFill>
                    <a:srgbClr val="475569"/>
                  </a:solidFill>
                  <a:latin typeface="Open Sans"/>
                </a:rPr>
                <a:t>Days-to-seconds compliance response.</a:t>
              </a:r>
            </a:p>
            <a:p>
              <a:pPr algn="l">
                <a:lnSpc>
                  <a:spcPct val="104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1270" b="0" i="0">
                  <a:solidFill>
                    <a:srgbClr val="475569"/>
                  </a:solidFill>
                  <a:latin typeface="Open Sans"/>
                </a:rPr>
                <a:t>Continuous auditable records.</a:t>
              </a:r>
            </a:p>
            <a:p>
              <a:pPr algn="l">
                <a:lnSpc>
                  <a:spcPct val="104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1270" b="0" i="0">
                  <a:solidFill>
                    <a:srgbClr val="475569"/>
                  </a:solidFill>
                  <a:latin typeface="Open Sans"/>
                </a:rPr>
                <a:t>Earlier intervention before irreversible downstream contamination.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6"/>
          <p:cNvSpPr/>
          <p:nvPr/>
        </p:nvSpPr>
        <p:spPr>
          <a:xfrm rot="1952229">
            <a:off x="16582574" y="3024474"/>
            <a:ext cx="3681941" cy="4213954"/>
          </a:xfrm>
          <a:custGeom>
            <a:rect b="b" l="l" r="r" t="t"/>
            <a:pathLst>
              <a:path extrusionOk="0" h="4216669" w="3684314">
                <a:moveTo>
                  <a:pt x="0" y="0"/>
                </a:moveTo>
                <a:lnTo>
                  <a:pt x="3684314" y="0"/>
                </a:lnTo>
                <a:lnTo>
                  <a:pt x="3684314" y="4216669"/>
                </a:lnTo>
                <a:lnTo>
                  <a:pt x="0" y="42166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42" name="Google Shape;242;p6"/>
          <p:cNvSpPr/>
          <p:nvPr/>
        </p:nvSpPr>
        <p:spPr>
          <a:xfrm rot="744277">
            <a:off x="-3111650" y="4768904"/>
            <a:ext cx="4072028" cy="4118360"/>
          </a:xfrm>
          <a:custGeom>
            <a:rect b="b" l="l" r="r" t="t"/>
            <a:pathLst>
              <a:path extrusionOk="0" h="4114800" w="4068508">
                <a:moveTo>
                  <a:pt x="0" y="0"/>
                </a:moveTo>
                <a:lnTo>
                  <a:pt x="4068508" y="0"/>
                </a:lnTo>
                <a:lnTo>
                  <a:pt x="4068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43" name="Google Shape;243;p6"/>
          <p:cNvSpPr/>
          <p:nvPr/>
        </p:nvSpPr>
        <p:spPr>
          <a:xfrm>
            <a:off x="17736411" y="6274217"/>
            <a:ext cx="891716" cy="754202"/>
          </a:xfrm>
          <a:custGeom>
            <a:rect b="b" l="l" r="r" t="t"/>
            <a:pathLst>
              <a:path extrusionOk="0" h="754202" w="891716">
                <a:moveTo>
                  <a:pt x="0" y="0"/>
                </a:moveTo>
                <a:lnTo>
                  <a:pt x="891716" y="0"/>
                </a:lnTo>
                <a:lnTo>
                  <a:pt x="891716" y="754202"/>
                </a:lnTo>
                <a:lnTo>
                  <a:pt x="0" y="7542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44" name="Google Shape;244;p6"/>
          <p:cNvSpPr/>
          <p:nvPr/>
        </p:nvSpPr>
        <p:spPr>
          <a:xfrm rot="1770831">
            <a:off x="-1789340" y="7446447"/>
            <a:ext cx="3076965" cy="2092337"/>
          </a:xfrm>
          <a:custGeom>
            <a:rect b="b" l="l" r="r" t="t"/>
            <a:pathLst>
              <a:path extrusionOk="0" h="2092906" w="3077802">
                <a:moveTo>
                  <a:pt x="0" y="0"/>
                </a:moveTo>
                <a:lnTo>
                  <a:pt x="3077802" y="0"/>
                </a:lnTo>
                <a:lnTo>
                  <a:pt x="3077802" y="2092906"/>
                </a:lnTo>
                <a:lnTo>
                  <a:pt x="0" y="20929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45" name="Google Shape;245;p6"/>
          <p:cNvSpPr/>
          <p:nvPr/>
        </p:nvSpPr>
        <p:spPr>
          <a:xfrm>
            <a:off x="16679493" y="2500431"/>
            <a:ext cx="1967557" cy="1879180"/>
          </a:xfrm>
          <a:custGeom>
            <a:rect b="b" l="l" r="r" t="t"/>
            <a:pathLst>
              <a:path extrusionOk="0" h="1879180" w="1967557">
                <a:moveTo>
                  <a:pt x="0" y="0"/>
                </a:moveTo>
                <a:lnTo>
                  <a:pt x="1967557" y="0"/>
                </a:lnTo>
                <a:lnTo>
                  <a:pt x="1967557" y="1879180"/>
                </a:lnTo>
                <a:lnTo>
                  <a:pt x="0" y="18791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46" name="Google Shape;246;p6"/>
          <p:cNvSpPr/>
          <p:nvPr/>
        </p:nvSpPr>
        <p:spPr>
          <a:xfrm>
            <a:off x="199210" y="-57150"/>
            <a:ext cx="5267831" cy="1755944"/>
          </a:xfrm>
          <a:custGeom>
            <a:rect b="b" l="l" r="r" t="t"/>
            <a:pathLst>
              <a:path extrusionOk="0" h="1755944" w="5267831">
                <a:moveTo>
                  <a:pt x="0" y="0"/>
                </a:moveTo>
                <a:lnTo>
                  <a:pt x="5267831" y="0"/>
                </a:lnTo>
                <a:lnTo>
                  <a:pt x="5267831" y="1755944"/>
                </a:lnTo>
                <a:lnTo>
                  <a:pt x="0" y="17559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47" name="Google Shape;247;p6"/>
          <p:cNvSpPr/>
          <p:nvPr/>
        </p:nvSpPr>
        <p:spPr>
          <a:xfrm>
            <a:off x="14799394" y="438739"/>
            <a:ext cx="3140410" cy="764166"/>
          </a:xfrm>
          <a:custGeom>
            <a:rect b="b" l="l" r="r" t="t"/>
            <a:pathLst>
              <a:path extrusionOk="0" h="764166" w="3140410">
                <a:moveTo>
                  <a:pt x="0" y="0"/>
                </a:moveTo>
                <a:lnTo>
                  <a:pt x="3140410" y="0"/>
                </a:lnTo>
                <a:lnTo>
                  <a:pt x="3140410" y="764166"/>
                </a:lnTo>
                <a:lnTo>
                  <a:pt x="0" y="7641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48" name="Google Shape;248;p6"/>
          <p:cNvSpPr/>
          <p:nvPr/>
        </p:nvSpPr>
        <p:spPr>
          <a:xfrm>
            <a:off x="16056873" y="8944972"/>
            <a:ext cx="2125396" cy="1416931"/>
          </a:xfrm>
          <a:custGeom>
            <a:rect b="b" l="l" r="r" t="t"/>
            <a:pathLst>
              <a:path extrusionOk="0" h="1416931" w="2125396">
                <a:moveTo>
                  <a:pt x="0" y="0"/>
                </a:moveTo>
                <a:lnTo>
                  <a:pt x="2125396" y="0"/>
                </a:lnTo>
                <a:lnTo>
                  <a:pt x="2125396" y="1416931"/>
                </a:lnTo>
                <a:lnTo>
                  <a:pt x="0" y="141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grpSp>
        <p:nvGrpSpPr>
          <p:cNvPr id="249" name="Google Shape;249;p6"/>
          <p:cNvGrpSpPr/>
          <p:nvPr/>
        </p:nvGrpSpPr>
        <p:grpSpPr>
          <a:xfrm>
            <a:off x="1333500" y="1714500"/>
            <a:ext cx="9525000" cy="1143000"/>
            <a:chOff x="0" y="0"/>
            <a:chExt cx="9525000" cy="1143000"/>
          </a:xfrm>
        </p:grpSpPr>
        <p:sp>
          <p:nvSpPr>
            <p:cNvPr id="250" name="Google Shape;250;p6"/>
            <p:cNvSpPr/>
            <p:nvPr/>
          </p:nvSpPr>
          <p:spPr>
            <a:xfrm>
              <a:off x="0" y="0"/>
              <a:ext cx="95250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6"/>
            <p:cNvSpPr txBox="1"/>
            <p:nvPr/>
          </p:nvSpPr>
          <p:spPr>
            <a:xfrm>
              <a:off x="0" y="0"/>
              <a:ext cx="9525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/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None/>
              </a:pPr>
              <a:r>
                <a:rPr sz="1600" b="1" i="0">
                  <a:solidFill>
                    <a:srgbClr val="486AFD"/>
                  </a:solidFill>
                  <a:latin typeface="Open Sans"/>
                </a:rPr>
                <a:t>System Workflow</a:t>
              </a:r>
              <a:endParaRPr b="1" sz="16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200" b="0" i="0">
                  <a:solidFill>
                    <a:srgbClr val="1E293B"/>
                  </a:solidFill>
                  <a:latin typeface="Open Sans ExtraBold"/>
                </a:rPr>
                <a:t>SEE IT IN ACTION</a:t>
              </a:r>
            </a:p>
          </p:txBody>
        </p:sp>
      </p:grpSp>
      <p:grpSp>
        <p:nvGrpSpPr>
          <p:cNvPr id="252" name="Google Shape;252;p6"/>
          <p:cNvGrpSpPr/>
          <p:nvPr/>
        </p:nvGrpSpPr>
        <p:grpSpPr>
          <a:xfrm>
            <a:off x="1333500" y="3238500"/>
            <a:ext cx="7620000" cy="4381500"/>
            <a:chOff x="0" y="0"/>
            <a:chExt cx="7620000" cy="4381500"/>
          </a:xfrm>
        </p:grpSpPr>
        <p:sp>
          <p:nvSpPr>
            <p:cNvPr id="253" name="Google Shape;253;p6"/>
            <p:cNvSpPr/>
            <p:nvPr/>
          </p:nvSpPr>
          <p:spPr>
            <a:xfrm>
              <a:off x="0" y="0"/>
              <a:ext cx="7620000" cy="4381500"/>
            </a:xfrm>
            <a:prstGeom prst="roundRect">
              <a:avLst>
                <a:gd fmla="val 4347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clean, modern user interface mockup of a mobile application dashboard, displaying colorful charts, sleek progress circles, and clean list elements, styled in a professional minimalist tech aesthetic." id="254" name="Google Shape;254;p6"/>
            <p:cNvPicPr preferRelativeResize="0"/>
            <p:nvPr/>
          </p:nvPicPr>
          <p:blipFill rotWithShape="1">
            <a:blip r:embed="rId11">
              <a:alphaModFix/>
            </a:blip>
            <a:srcRect b="3087" l="0" r="0" t="3087"/>
            <a:stretch/>
          </p:blipFill>
          <p:spPr>
            <a:xfrm>
              <a:off x="381000" y="381000"/>
              <a:ext cx="6858000" cy="3619500"/>
            </a:xfrm>
            <a:prstGeom prst="roundRect">
              <a:avLst>
                <a:gd fmla="val 3157" name="adj"/>
              </a:avLst>
            </a:prstGeom>
            <a:noFill/>
            <a:ln>
              <a:noFill/>
            </a:ln>
          </p:spPr>
        </p:pic>
      </p:grpSp>
      <p:grpSp>
        <p:nvGrpSpPr>
          <p:cNvPr id="255" name="Google Shape;255;p6"/>
          <p:cNvGrpSpPr/>
          <p:nvPr/>
        </p:nvGrpSpPr>
        <p:grpSpPr>
          <a:xfrm>
            <a:off x="9334500" y="3238500"/>
            <a:ext cx="7620000" cy="4381500"/>
            <a:chOff x="0" y="0"/>
            <a:chExt cx="7620000" cy="4381500"/>
          </a:xfrm>
        </p:grpSpPr>
        <p:sp>
          <p:nvSpPr>
            <p:cNvPr id="256" name="Google Shape;256;p6"/>
            <p:cNvSpPr/>
            <p:nvPr/>
          </p:nvSpPr>
          <p:spPr>
            <a:xfrm>
              <a:off x="0" y="0"/>
              <a:ext cx="7620000" cy="4381500"/>
            </a:xfrm>
            <a:prstGeom prst="roundRect">
              <a:avLst>
                <a:gd fmla="val 4347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6"/>
            <p:cNvSpPr txBox="1"/>
            <p:nvPr/>
          </p:nvSpPr>
          <p:spPr>
            <a:xfrm>
              <a:off x="381000" y="381000"/>
              <a:ext cx="68580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/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sz="2300" b="1" i="0">
                  <a:solidFill>
                    <a:srgbClr val="1E293B"/>
                  </a:solidFill>
                  <a:latin typeface="Open Sans"/>
                </a:rPr>
                <a:t>Key Features</a:t>
              </a:r>
              <a:endParaRPr b="1" sz="240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1320" b="0" i="0">
                  <a:solidFill>
                    <a:srgbClr val="486AFD"/>
                  </a:solidFill>
                  <a:latin typeface="Open Sans ExtraBold"/>
                </a:rPr>
                <a:t>01  </a:t>
              </a:r>
              <a:r>
                <a:rPr sz="1320" b="1" i="0">
                  <a:solidFill>
                    <a:srgbClr val="475569"/>
                  </a:solidFill>
                  <a:latin typeface="Open Sans"/>
                </a:rPr>
                <a:t>Continuous multi-sensor monitoring of pH, TDS, turbidity and dye colour.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1320" b="0" i="0">
                  <a:solidFill>
                    <a:srgbClr val="486AFD"/>
                  </a:solidFill>
                  <a:latin typeface="Open Sans ExtraBold"/>
                </a:rPr>
                <a:t>02  </a:t>
              </a:r>
              <a:r>
                <a:rPr sz="1320" b="1" i="0">
                  <a:solidFill>
                    <a:srgbClr val="475569"/>
                  </a:solidFill>
                  <a:latin typeface="Open Sans"/>
                </a:rPr>
                <a:t>Weighted rule-based fusion today; trained ML upgrade after field-labelled samples.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1320" b="0" i="0">
                  <a:solidFill>
                    <a:srgbClr val="486AFD"/>
                  </a:solidFill>
                  <a:latin typeface="Open Sans ExtraBold"/>
                </a:rPr>
                <a:t>03  </a:t>
              </a:r>
              <a:r>
                <a:rPr sz="1320" b="1" i="0">
                  <a:solidFill>
                    <a:srgbClr val="475569"/>
                  </a:solidFill>
                  <a:latin typeface="Open Sans"/>
                </a:rPr>
                <a:t>Fail-safe valve defaults to DIVERT on sensor fault or power loss.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1320" b="0" i="0">
                  <a:solidFill>
                    <a:srgbClr val="486AFD"/>
                  </a:solidFill>
                  <a:latin typeface="Open Sans ExtraBold"/>
                </a:rPr>
                <a:t>04  </a:t>
              </a:r>
              <a:r>
                <a:rPr sz="1320" b="1" i="0">
                  <a:solidFill>
                    <a:srgbClr val="475569"/>
                  </a:solidFill>
                  <a:latin typeface="Open Sans"/>
                </a:rPr>
                <a:t>Every anomaly, diversion and manual bypass is logged for audit.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1320" b="0" i="0">
                  <a:solidFill>
                    <a:srgbClr val="486AFD"/>
                  </a:solidFill>
                  <a:latin typeface="Open Sans ExtraBold"/>
                </a:rPr>
                <a:t>05  </a:t>
              </a:r>
              <a:r>
                <a:rPr sz="1320" b="1" i="0">
                  <a:solidFill>
                    <a:srgbClr val="475569"/>
                  </a:solidFill>
                  <a:latin typeface="Open Sans"/>
                </a:rPr>
                <a:t>Optional holding tank + dosing pump provides a pre-treatment buffer.</a:t>
              </a:r>
            </a:p>
          </p:txBody>
        </p:sp>
      </p:grpSp>
      <p:pic>
        <p:nvPicPr>
          <p:cNvPr id="258" name="Picture 257" descr="chromaguard_workflo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19072" y="3621024"/>
            <a:ext cx="6858000" cy="36210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"/>
          <p:cNvSpPr/>
          <p:nvPr/>
        </p:nvSpPr>
        <p:spPr>
          <a:xfrm rot="1952229">
            <a:off x="16582574" y="3024474"/>
            <a:ext cx="3681941" cy="4213954"/>
          </a:xfrm>
          <a:custGeom>
            <a:rect b="b" l="l" r="r" t="t"/>
            <a:pathLst>
              <a:path extrusionOk="0" h="4216669" w="3684314">
                <a:moveTo>
                  <a:pt x="0" y="0"/>
                </a:moveTo>
                <a:lnTo>
                  <a:pt x="3684314" y="0"/>
                </a:lnTo>
                <a:lnTo>
                  <a:pt x="3684314" y="4216669"/>
                </a:lnTo>
                <a:lnTo>
                  <a:pt x="0" y="42166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63" name="Google Shape;263;p7"/>
          <p:cNvSpPr/>
          <p:nvPr/>
        </p:nvSpPr>
        <p:spPr>
          <a:xfrm rot="744277">
            <a:off x="-3111650" y="4768904"/>
            <a:ext cx="4072028" cy="4118360"/>
          </a:xfrm>
          <a:custGeom>
            <a:rect b="b" l="l" r="r" t="t"/>
            <a:pathLst>
              <a:path extrusionOk="0" h="4114800" w="4068508">
                <a:moveTo>
                  <a:pt x="0" y="0"/>
                </a:moveTo>
                <a:lnTo>
                  <a:pt x="4068508" y="0"/>
                </a:lnTo>
                <a:lnTo>
                  <a:pt x="4068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64" name="Google Shape;264;p7"/>
          <p:cNvSpPr/>
          <p:nvPr/>
        </p:nvSpPr>
        <p:spPr>
          <a:xfrm>
            <a:off x="17736411" y="6274217"/>
            <a:ext cx="891716" cy="754202"/>
          </a:xfrm>
          <a:custGeom>
            <a:rect b="b" l="l" r="r" t="t"/>
            <a:pathLst>
              <a:path extrusionOk="0" h="754202" w="891716">
                <a:moveTo>
                  <a:pt x="0" y="0"/>
                </a:moveTo>
                <a:lnTo>
                  <a:pt x="891716" y="0"/>
                </a:lnTo>
                <a:lnTo>
                  <a:pt x="891716" y="754202"/>
                </a:lnTo>
                <a:lnTo>
                  <a:pt x="0" y="7542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65" name="Google Shape;265;p7"/>
          <p:cNvSpPr/>
          <p:nvPr/>
        </p:nvSpPr>
        <p:spPr>
          <a:xfrm rot="1770831">
            <a:off x="-1789340" y="7446447"/>
            <a:ext cx="3076965" cy="2092337"/>
          </a:xfrm>
          <a:custGeom>
            <a:rect b="b" l="l" r="r" t="t"/>
            <a:pathLst>
              <a:path extrusionOk="0" h="2092906" w="3077802">
                <a:moveTo>
                  <a:pt x="0" y="0"/>
                </a:moveTo>
                <a:lnTo>
                  <a:pt x="3077802" y="0"/>
                </a:lnTo>
                <a:lnTo>
                  <a:pt x="3077802" y="2092906"/>
                </a:lnTo>
                <a:lnTo>
                  <a:pt x="0" y="20929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66" name="Google Shape;266;p7"/>
          <p:cNvSpPr/>
          <p:nvPr/>
        </p:nvSpPr>
        <p:spPr>
          <a:xfrm>
            <a:off x="16679493" y="2500431"/>
            <a:ext cx="1967557" cy="1879180"/>
          </a:xfrm>
          <a:custGeom>
            <a:rect b="b" l="l" r="r" t="t"/>
            <a:pathLst>
              <a:path extrusionOk="0" h="1879180" w="1967557">
                <a:moveTo>
                  <a:pt x="0" y="0"/>
                </a:moveTo>
                <a:lnTo>
                  <a:pt x="1967557" y="0"/>
                </a:lnTo>
                <a:lnTo>
                  <a:pt x="1967557" y="1879180"/>
                </a:lnTo>
                <a:lnTo>
                  <a:pt x="0" y="18791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67" name="Google Shape;267;p7"/>
          <p:cNvSpPr/>
          <p:nvPr/>
        </p:nvSpPr>
        <p:spPr>
          <a:xfrm>
            <a:off x="199210" y="-57150"/>
            <a:ext cx="5267831" cy="1755944"/>
          </a:xfrm>
          <a:custGeom>
            <a:rect b="b" l="l" r="r" t="t"/>
            <a:pathLst>
              <a:path extrusionOk="0" h="1755944" w="5267831">
                <a:moveTo>
                  <a:pt x="0" y="0"/>
                </a:moveTo>
                <a:lnTo>
                  <a:pt x="5267831" y="0"/>
                </a:lnTo>
                <a:lnTo>
                  <a:pt x="5267831" y="1755944"/>
                </a:lnTo>
                <a:lnTo>
                  <a:pt x="0" y="17559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68" name="Google Shape;268;p7"/>
          <p:cNvSpPr/>
          <p:nvPr/>
        </p:nvSpPr>
        <p:spPr>
          <a:xfrm>
            <a:off x="14799394" y="438739"/>
            <a:ext cx="3140410" cy="764166"/>
          </a:xfrm>
          <a:custGeom>
            <a:rect b="b" l="l" r="r" t="t"/>
            <a:pathLst>
              <a:path extrusionOk="0" h="764166" w="3140410">
                <a:moveTo>
                  <a:pt x="0" y="0"/>
                </a:moveTo>
                <a:lnTo>
                  <a:pt x="3140410" y="0"/>
                </a:lnTo>
                <a:lnTo>
                  <a:pt x="3140410" y="764166"/>
                </a:lnTo>
                <a:lnTo>
                  <a:pt x="0" y="7641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69" name="Google Shape;269;p7"/>
          <p:cNvSpPr/>
          <p:nvPr/>
        </p:nvSpPr>
        <p:spPr>
          <a:xfrm>
            <a:off x="16056873" y="8944972"/>
            <a:ext cx="2125396" cy="1416931"/>
          </a:xfrm>
          <a:custGeom>
            <a:rect b="b" l="l" r="r" t="t"/>
            <a:pathLst>
              <a:path extrusionOk="0" h="1416931" w="2125396">
                <a:moveTo>
                  <a:pt x="0" y="0"/>
                </a:moveTo>
                <a:lnTo>
                  <a:pt x="2125396" y="0"/>
                </a:lnTo>
                <a:lnTo>
                  <a:pt x="2125396" y="1416931"/>
                </a:lnTo>
                <a:lnTo>
                  <a:pt x="0" y="141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70" name="Google Shape;270;p7"/>
          <p:cNvSpPr txBox="1"/>
          <p:nvPr/>
        </p:nvSpPr>
        <p:spPr>
          <a:xfrm>
            <a:off x="1333500" y="1714500"/>
            <a:ext cx="9525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1" i="0">
                <a:solidFill>
                  <a:srgbClr val="486AFD"/>
                </a:solidFill>
                <a:latin typeface="Open Sans"/>
              </a:rPr>
              <a:t>Business &amp; Sustainability Model</a:t>
            </a:r>
            <a:endParaRPr b="1" sz="1600">
              <a:solidFill>
                <a:srgbClr val="486AF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 i="0">
                <a:solidFill>
                  <a:srgbClr val="1E293B"/>
                </a:solidFill>
                <a:latin typeface="Open Sans ExtraBold"/>
              </a:rPr>
              <a:t>HOW THIS LIVES ON</a:t>
            </a:r>
          </a:p>
        </p:txBody>
      </p:sp>
      <p:grpSp>
        <p:nvGrpSpPr>
          <p:cNvPr id="271" name="Google Shape;271;p7"/>
          <p:cNvGrpSpPr/>
          <p:nvPr/>
        </p:nvGrpSpPr>
        <p:grpSpPr>
          <a:xfrm>
            <a:off x="1333500" y="3238500"/>
            <a:ext cx="4857900" cy="4381500"/>
            <a:chOff x="0" y="0"/>
            <a:chExt cx="4857900" cy="4381500"/>
          </a:xfrm>
        </p:grpSpPr>
        <p:sp>
          <p:nvSpPr>
            <p:cNvPr id="272" name="Google Shape;272;p7"/>
            <p:cNvSpPr/>
            <p:nvPr/>
          </p:nvSpPr>
          <p:spPr>
            <a:xfrm>
              <a:off x="0" y="0"/>
              <a:ext cx="4857900" cy="4381500"/>
            </a:xfrm>
            <a:prstGeom prst="roundRect">
              <a:avLst>
                <a:gd fmla="val 4347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7"/>
            <p:cNvSpPr txBox="1"/>
            <p:nvPr/>
          </p:nvSpPr>
          <p:spPr>
            <a:xfrm>
              <a:off x="381000" y="381000"/>
              <a:ext cx="4095900" cy="3619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/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sz="2100" b="1" i="0">
                  <a:solidFill>
                    <a:srgbClr val="486AFD"/>
                  </a:solidFill>
                  <a:latin typeface="Open Sans"/>
                </a:rPr>
                <a:t>Implementation</a:t>
              </a:r>
              <a:endParaRPr b="1" sz="24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algn="l">
                <a:lnSpc>
                  <a:spcPct val="104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1320" b="0" i="0">
                  <a:solidFill>
                    <a:srgbClr val="475569"/>
                  </a:solidFill>
                  <a:latin typeface="Open Sans"/>
                </a:rPr>
                <a:t>1. Build and calibrate Plan A on one outflow line.</a:t>
              </a:r>
            </a:p>
            <a:p>
              <a:pPr algn="l">
                <a:lnSpc>
                  <a:spcPct val="104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1320" b="0" i="0">
                  <a:solidFill>
                    <a:srgbClr val="475569"/>
                  </a:solidFill>
                  <a:latin typeface="Open Sans"/>
                </a:rPr>
                <a:t>2. Pilot with 2–3 member units connected to one CETP.</a:t>
              </a:r>
            </a:p>
            <a:p>
              <a:pPr algn="l">
                <a:lnSpc>
                  <a:spcPct val="104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1320" b="0" i="0">
                  <a:solidFill>
                    <a:srgbClr val="475569"/>
                  </a:solidFill>
                  <a:latin typeface="Open Sans"/>
                </a:rPr>
                <a:t>3. Add Plan B pre-treatment and validate reduction.</a:t>
              </a:r>
            </a:p>
            <a:p>
              <a:pPr algn="l">
                <a:lnSpc>
                  <a:spcPct val="104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1320" b="0" i="0">
                  <a:solidFill>
                    <a:srgbClr val="475569"/>
                  </a:solidFill>
                  <a:latin typeface="Open Sans"/>
                </a:rPr>
                <a:t>4. Pursue a TNPCB-backed regional rollout.</a:t>
              </a:r>
            </a:p>
          </p:txBody>
        </p:sp>
      </p:grpSp>
      <p:grpSp>
        <p:nvGrpSpPr>
          <p:cNvPr id="274" name="Google Shape;274;p7"/>
          <p:cNvGrpSpPr/>
          <p:nvPr/>
        </p:nvGrpSpPr>
        <p:grpSpPr>
          <a:xfrm>
            <a:off x="6667500" y="3238500"/>
            <a:ext cx="4857900" cy="4381500"/>
            <a:chOff x="0" y="0"/>
            <a:chExt cx="4857900" cy="4381500"/>
          </a:xfrm>
        </p:grpSpPr>
        <p:sp>
          <p:nvSpPr>
            <p:cNvPr id="275" name="Google Shape;275;p7"/>
            <p:cNvSpPr/>
            <p:nvPr/>
          </p:nvSpPr>
          <p:spPr>
            <a:xfrm>
              <a:off x="0" y="0"/>
              <a:ext cx="4857900" cy="4381500"/>
            </a:xfrm>
            <a:prstGeom prst="roundRect">
              <a:avLst>
                <a:gd fmla="val 4347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7"/>
            <p:cNvSpPr txBox="1"/>
            <p:nvPr/>
          </p:nvSpPr>
          <p:spPr>
            <a:xfrm>
              <a:off x="381000" y="381000"/>
              <a:ext cx="4095900" cy="3619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/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sz="2100" b="1" i="0">
                  <a:solidFill>
                    <a:srgbClr val="486AFD"/>
                  </a:solidFill>
                  <a:latin typeface="Open Sans"/>
                </a:rPr>
                <a:t>Revenue Model</a:t>
              </a:r>
              <a:endParaRPr b="1" sz="24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algn="l">
                <a:lnSpc>
                  <a:spcPct val="104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1320" b="0" i="0">
                  <a:solidFill>
                    <a:srgbClr val="475569"/>
                  </a:solidFill>
                  <a:latin typeface="Open Sans"/>
                </a:rPr>
                <a:t>Hardware sale or lease for the sensor pod and valve system.</a:t>
              </a:r>
            </a:p>
            <a:p>
              <a:pPr algn="l">
                <a:lnSpc>
                  <a:spcPct val="104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1320" b="0" i="0">
                  <a:solidFill>
                    <a:srgbClr val="475569"/>
                  </a:solidFill>
                  <a:latin typeface="Open Sans"/>
                </a:rPr>
                <a:t>Annual SaaS subscription for the compliance dashboard.</a:t>
              </a:r>
            </a:p>
            <a:p>
              <a:pPr algn="l">
                <a:lnSpc>
                  <a:spcPct val="104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1320" b="0" i="0">
                  <a:solidFill>
                    <a:srgbClr val="475569"/>
                  </a:solidFill>
                  <a:latin typeface="Open Sans"/>
                </a:rPr>
                <a:t>AMC for calibration, probe cleaning and tamper audits.</a:t>
              </a:r>
            </a:p>
          </p:txBody>
        </p:sp>
      </p:grpSp>
      <p:grpSp>
        <p:nvGrpSpPr>
          <p:cNvPr id="277" name="Google Shape;277;p7"/>
          <p:cNvGrpSpPr/>
          <p:nvPr/>
        </p:nvGrpSpPr>
        <p:grpSpPr>
          <a:xfrm>
            <a:off x="12001500" y="3238500"/>
            <a:ext cx="4857900" cy="4381500"/>
            <a:chOff x="0" y="0"/>
            <a:chExt cx="4857900" cy="4381500"/>
          </a:xfrm>
        </p:grpSpPr>
        <p:sp>
          <p:nvSpPr>
            <p:cNvPr id="278" name="Google Shape;278;p7"/>
            <p:cNvSpPr/>
            <p:nvPr/>
          </p:nvSpPr>
          <p:spPr>
            <a:xfrm>
              <a:off x="0" y="0"/>
              <a:ext cx="4857900" cy="4381500"/>
            </a:xfrm>
            <a:prstGeom prst="roundRect">
              <a:avLst>
                <a:gd fmla="val 4347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7"/>
            <p:cNvSpPr txBox="1"/>
            <p:nvPr/>
          </p:nvSpPr>
          <p:spPr>
            <a:xfrm>
              <a:off x="381000" y="381000"/>
              <a:ext cx="4095900" cy="3619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/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sz="2100" b="1" i="0">
                  <a:solidFill>
                    <a:srgbClr val="486AFD"/>
                  </a:solidFill>
                  <a:latin typeface="Open Sans"/>
                </a:rPr>
                <a:t>Partnerships</a:t>
              </a:r>
              <a:endParaRPr b="1" sz="24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algn="l">
                <a:lnSpc>
                  <a:spcPct val="104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1320" b="0" i="0">
                  <a:solidFill>
                    <a:srgbClr val="475569"/>
                  </a:solidFill>
                  <a:latin typeface="Open Sans"/>
                </a:rPr>
                <a:t>TNPCB and municipal regulators.</a:t>
              </a:r>
            </a:p>
            <a:p>
              <a:pPr algn="l">
                <a:lnSpc>
                  <a:spcPct val="104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1320" b="0" i="0">
                  <a:solidFill>
                    <a:srgbClr val="475569"/>
                  </a:solidFill>
                  <a:latin typeface="Open Sans"/>
                </a:rPr>
                <a:t>CETP operators and pilot dyeing units.</a:t>
              </a:r>
            </a:p>
            <a:p>
              <a:pPr algn="l">
                <a:lnSpc>
                  <a:spcPct val="104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1320" b="0" i="0">
                  <a:solidFill>
                    <a:srgbClr val="475569"/>
                  </a:solidFill>
                  <a:latin typeface="Open Sans"/>
                </a:rPr>
                <a:t>Sensor vendors, academic labs and green-tech / CSR grant partners.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8"/>
          <p:cNvSpPr/>
          <p:nvPr/>
        </p:nvSpPr>
        <p:spPr>
          <a:xfrm rot="1952229">
            <a:off x="16582574" y="3024474"/>
            <a:ext cx="3681941" cy="4213954"/>
          </a:xfrm>
          <a:custGeom>
            <a:rect b="b" l="l" r="r" t="t"/>
            <a:pathLst>
              <a:path extrusionOk="0" h="4216669" w="3684314">
                <a:moveTo>
                  <a:pt x="0" y="0"/>
                </a:moveTo>
                <a:lnTo>
                  <a:pt x="3684314" y="0"/>
                </a:lnTo>
                <a:lnTo>
                  <a:pt x="3684314" y="4216669"/>
                </a:lnTo>
                <a:lnTo>
                  <a:pt x="0" y="42166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85" name="Google Shape;285;p8"/>
          <p:cNvSpPr/>
          <p:nvPr/>
        </p:nvSpPr>
        <p:spPr>
          <a:xfrm rot="744277">
            <a:off x="-3111650" y="4768904"/>
            <a:ext cx="4072028" cy="4118360"/>
          </a:xfrm>
          <a:custGeom>
            <a:rect b="b" l="l" r="r" t="t"/>
            <a:pathLst>
              <a:path extrusionOk="0" h="4114800" w="4068508">
                <a:moveTo>
                  <a:pt x="0" y="0"/>
                </a:moveTo>
                <a:lnTo>
                  <a:pt x="4068508" y="0"/>
                </a:lnTo>
                <a:lnTo>
                  <a:pt x="4068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86" name="Google Shape;286;p8"/>
          <p:cNvSpPr/>
          <p:nvPr/>
        </p:nvSpPr>
        <p:spPr>
          <a:xfrm>
            <a:off x="17736411" y="6274217"/>
            <a:ext cx="891716" cy="754202"/>
          </a:xfrm>
          <a:custGeom>
            <a:rect b="b" l="l" r="r" t="t"/>
            <a:pathLst>
              <a:path extrusionOk="0" h="754202" w="891716">
                <a:moveTo>
                  <a:pt x="0" y="0"/>
                </a:moveTo>
                <a:lnTo>
                  <a:pt x="891716" y="0"/>
                </a:lnTo>
                <a:lnTo>
                  <a:pt x="891716" y="754202"/>
                </a:lnTo>
                <a:lnTo>
                  <a:pt x="0" y="7542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87" name="Google Shape;287;p8"/>
          <p:cNvSpPr/>
          <p:nvPr/>
        </p:nvSpPr>
        <p:spPr>
          <a:xfrm rot="1770831">
            <a:off x="-1789340" y="7446447"/>
            <a:ext cx="3076965" cy="2092337"/>
          </a:xfrm>
          <a:custGeom>
            <a:rect b="b" l="l" r="r" t="t"/>
            <a:pathLst>
              <a:path extrusionOk="0" h="2092906" w="3077802">
                <a:moveTo>
                  <a:pt x="0" y="0"/>
                </a:moveTo>
                <a:lnTo>
                  <a:pt x="3077802" y="0"/>
                </a:lnTo>
                <a:lnTo>
                  <a:pt x="3077802" y="2092906"/>
                </a:lnTo>
                <a:lnTo>
                  <a:pt x="0" y="20929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88" name="Google Shape;288;p8"/>
          <p:cNvSpPr/>
          <p:nvPr/>
        </p:nvSpPr>
        <p:spPr>
          <a:xfrm>
            <a:off x="16679493" y="2500431"/>
            <a:ext cx="1967557" cy="1879180"/>
          </a:xfrm>
          <a:custGeom>
            <a:rect b="b" l="l" r="r" t="t"/>
            <a:pathLst>
              <a:path extrusionOk="0" h="1879180" w="1967557">
                <a:moveTo>
                  <a:pt x="0" y="0"/>
                </a:moveTo>
                <a:lnTo>
                  <a:pt x="1967557" y="0"/>
                </a:lnTo>
                <a:lnTo>
                  <a:pt x="1967557" y="1879180"/>
                </a:lnTo>
                <a:lnTo>
                  <a:pt x="0" y="18791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89" name="Google Shape;289;p8"/>
          <p:cNvSpPr/>
          <p:nvPr/>
        </p:nvSpPr>
        <p:spPr>
          <a:xfrm>
            <a:off x="199210" y="-57150"/>
            <a:ext cx="5267831" cy="1755944"/>
          </a:xfrm>
          <a:custGeom>
            <a:rect b="b" l="l" r="r" t="t"/>
            <a:pathLst>
              <a:path extrusionOk="0" h="1755944" w="5267831">
                <a:moveTo>
                  <a:pt x="0" y="0"/>
                </a:moveTo>
                <a:lnTo>
                  <a:pt x="5267831" y="0"/>
                </a:lnTo>
                <a:lnTo>
                  <a:pt x="5267831" y="1755944"/>
                </a:lnTo>
                <a:lnTo>
                  <a:pt x="0" y="17559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90" name="Google Shape;290;p8"/>
          <p:cNvSpPr/>
          <p:nvPr/>
        </p:nvSpPr>
        <p:spPr>
          <a:xfrm>
            <a:off x="14799394" y="438739"/>
            <a:ext cx="3140410" cy="764166"/>
          </a:xfrm>
          <a:custGeom>
            <a:rect b="b" l="l" r="r" t="t"/>
            <a:pathLst>
              <a:path extrusionOk="0" h="764166" w="3140410">
                <a:moveTo>
                  <a:pt x="0" y="0"/>
                </a:moveTo>
                <a:lnTo>
                  <a:pt x="3140410" y="0"/>
                </a:lnTo>
                <a:lnTo>
                  <a:pt x="3140410" y="764166"/>
                </a:lnTo>
                <a:lnTo>
                  <a:pt x="0" y="7641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91" name="Google Shape;291;p8"/>
          <p:cNvSpPr/>
          <p:nvPr/>
        </p:nvSpPr>
        <p:spPr>
          <a:xfrm>
            <a:off x="16056873" y="8944972"/>
            <a:ext cx="2125396" cy="1416931"/>
          </a:xfrm>
          <a:custGeom>
            <a:rect b="b" l="l" r="r" t="t"/>
            <a:pathLst>
              <a:path extrusionOk="0" h="1416931" w="2125396">
                <a:moveTo>
                  <a:pt x="0" y="0"/>
                </a:moveTo>
                <a:lnTo>
                  <a:pt x="2125396" y="0"/>
                </a:lnTo>
                <a:lnTo>
                  <a:pt x="2125396" y="1416931"/>
                </a:lnTo>
                <a:lnTo>
                  <a:pt x="0" y="141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grpSp>
        <p:nvGrpSpPr>
          <p:cNvPr id="292" name="Google Shape;292;p8"/>
          <p:cNvGrpSpPr/>
          <p:nvPr/>
        </p:nvGrpSpPr>
        <p:grpSpPr>
          <a:xfrm>
            <a:off x="1333500" y="1524000"/>
            <a:ext cx="9525000" cy="1238400"/>
            <a:chOff x="0" y="0"/>
            <a:chExt cx="9525000" cy="1238400"/>
          </a:xfrm>
        </p:grpSpPr>
        <p:sp>
          <p:nvSpPr>
            <p:cNvPr id="293" name="Google Shape;293;p8"/>
            <p:cNvSpPr/>
            <p:nvPr/>
          </p:nvSpPr>
          <p:spPr>
            <a:xfrm>
              <a:off x="0" y="0"/>
              <a:ext cx="9525000" cy="12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8"/>
            <p:cNvSpPr txBox="1"/>
            <p:nvPr/>
          </p:nvSpPr>
          <p:spPr>
            <a:xfrm>
              <a:off x="0" y="0"/>
              <a:ext cx="9525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/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None/>
              </a:pPr>
              <a:r>
                <a:rPr sz="1600" b="1" i="0">
                  <a:solidFill>
                    <a:srgbClr val="486AFD"/>
                  </a:solidFill>
                  <a:latin typeface="Open Sans"/>
                </a:rPr>
                <a:t>Market Sizing</a:t>
              </a:r>
              <a:endParaRPr b="1" sz="16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200" b="0" i="0">
                  <a:solidFill>
                    <a:srgbClr val="1E293B"/>
                  </a:solidFill>
                  <a:latin typeface="Open Sans ExtraBold"/>
                </a:rPr>
                <a:t>SIZING THE OPPORTUNITY</a:t>
              </a:r>
            </a:p>
          </p:txBody>
        </p:sp>
      </p:grpSp>
      <p:grpSp>
        <p:nvGrpSpPr>
          <p:cNvPr id="295" name="Google Shape;295;p8"/>
          <p:cNvGrpSpPr/>
          <p:nvPr/>
        </p:nvGrpSpPr>
        <p:grpSpPr>
          <a:xfrm>
            <a:off x="1333500" y="3143250"/>
            <a:ext cx="4953000" cy="4381500"/>
            <a:chOff x="0" y="0"/>
            <a:chExt cx="4953000" cy="4381500"/>
          </a:xfrm>
        </p:grpSpPr>
        <p:sp>
          <p:nvSpPr>
            <p:cNvPr id="296" name="Google Shape;296;p8"/>
            <p:cNvSpPr/>
            <p:nvPr/>
          </p:nvSpPr>
          <p:spPr>
            <a:xfrm>
              <a:off x="0" y="0"/>
              <a:ext cx="4953000" cy="4381500"/>
            </a:xfrm>
            <a:prstGeom prst="roundRect">
              <a:avLst>
                <a:gd fmla="val 4347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8"/>
            <p:cNvSpPr txBox="1"/>
            <p:nvPr/>
          </p:nvSpPr>
          <p:spPr>
            <a:xfrm>
              <a:off x="381000" y="381000"/>
              <a:ext cx="41910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/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None/>
              </a:pPr>
              <a:r>
                <a:rPr sz="1350" b="1" i="0">
                  <a:solidFill>
                    <a:srgbClr val="486AFD"/>
                  </a:solidFill>
                  <a:latin typeface="Open Sans"/>
                </a:rPr>
                <a:t>Initial Addressable Base</a:t>
              </a:r>
              <a:endParaRPr b="1" sz="14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2100" b="0" i="0">
                  <a:solidFill>
                    <a:srgbClr val="1E293B"/>
                  </a:solidFill>
                  <a:latin typeface="Open Sans ExtraBold"/>
                </a:rPr>
                <a:t>TAM</a:t>
              </a: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5800" b="0" i="0">
                  <a:solidFill>
                    <a:srgbClr val="486AFD"/>
                  </a:solidFill>
                  <a:latin typeface="Open Sans ExtraBold"/>
                </a:rPr>
                <a:t>700+</a:t>
              </a:r>
            </a:p>
            <a:p>
              <a:pPr algn="l">
                <a:lnSpc>
                  <a:spcPct val="103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10" b="0" i="0">
                  <a:solidFill>
                    <a:srgbClr val="475569"/>
                  </a:solidFill>
                  <a:latin typeface="Open Sans"/>
                </a:rPr>
                <a:t>Dyeing and bleaching units operating along the Noyyal basin.</a:t>
              </a:r>
            </a:p>
          </p:txBody>
        </p:sp>
      </p:grpSp>
      <p:grpSp>
        <p:nvGrpSpPr>
          <p:cNvPr id="298" name="Google Shape;298;p8"/>
          <p:cNvGrpSpPr/>
          <p:nvPr/>
        </p:nvGrpSpPr>
        <p:grpSpPr>
          <a:xfrm>
            <a:off x="6667500" y="3143250"/>
            <a:ext cx="4953000" cy="4381500"/>
            <a:chOff x="0" y="0"/>
            <a:chExt cx="4953000" cy="4381500"/>
          </a:xfrm>
        </p:grpSpPr>
        <p:sp>
          <p:nvSpPr>
            <p:cNvPr id="299" name="Google Shape;299;p8"/>
            <p:cNvSpPr/>
            <p:nvPr/>
          </p:nvSpPr>
          <p:spPr>
            <a:xfrm>
              <a:off x="0" y="0"/>
              <a:ext cx="4953000" cy="4381500"/>
            </a:xfrm>
            <a:prstGeom prst="roundRect">
              <a:avLst>
                <a:gd fmla="val 4347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8"/>
            <p:cNvSpPr txBox="1"/>
            <p:nvPr/>
          </p:nvSpPr>
          <p:spPr>
            <a:xfrm>
              <a:off x="381000" y="381000"/>
              <a:ext cx="41910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/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None/>
              </a:pPr>
              <a:r>
                <a:rPr sz="1350" b="1" i="0">
                  <a:solidFill>
                    <a:srgbClr val="486AFD"/>
                  </a:solidFill>
                  <a:latin typeface="Open Sans"/>
                </a:rPr>
                <a:t>Serviceable Cluster</a:t>
              </a:r>
              <a:endParaRPr b="1" sz="14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2100" b="0" i="0">
                  <a:solidFill>
                    <a:srgbClr val="1E293B"/>
                  </a:solidFill>
                  <a:latin typeface="Open Sans ExtraBold"/>
                </a:rPr>
                <a:t>SAM</a:t>
              </a: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5800" b="0" i="0">
                  <a:solidFill>
                    <a:srgbClr val="486AFD"/>
                  </a:solidFill>
                  <a:latin typeface="Open Sans ExtraBold"/>
                </a:rPr>
                <a:t>18</a:t>
              </a:r>
            </a:p>
            <a:p>
              <a:pPr algn="l">
                <a:lnSpc>
                  <a:spcPct val="103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10" b="0" i="0">
                  <a:solidFill>
                    <a:srgbClr val="475569"/>
                  </a:solidFill>
                  <a:latin typeface="Open Sans"/>
                </a:rPr>
                <a:t>Operating CETPs in the Tiruppur cluster that can host multi-unit pilots.</a:t>
              </a:r>
            </a:p>
          </p:txBody>
        </p:sp>
      </p:grpSp>
      <p:grpSp>
        <p:nvGrpSpPr>
          <p:cNvPr id="301" name="Google Shape;301;p8"/>
          <p:cNvGrpSpPr/>
          <p:nvPr/>
        </p:nvGrpSpPr>
        <p:grpSpPr>
          <a:xfrm>
            <a:off x="12001500" y="3143250"/>
            <a:ext cx="4953000" cy="4381500"/>
            <a:chOff x="0" y="0"/>
            <a:chExt cx="4953000" cy="4381500"/>
          </a:xfrm>
        </p:grpSpPr>
        <p:sp>
          <p:nvSpPr>
            <p:cNvPr id="302" name="Google Shape;302;p8"/>
            <p:cNvSpPr/>
            <p:nvPr/>
          </p:nvSpPr>
          <p:spPr>
            <a:xfrm>
              <a:off x="0" y="0"/>
              <a:ext cx="4953000" cy="4381500"/>
            </a:xfrm>
            <a:prstGeom prst="roundRect">
              <a:avLst>
                <a:gd fmla="val 4347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8"/>
            <p:cNvSpPr txBox="1"/>
            <p:nvPr/>
          </p:nvSpPr>
          <p:spPr>
            <a:xfrm>
              <a:off x="381000" y="381000"/>
              <a:ext cx="41910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/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None/>
              </a:pPr>
              <a:r>
                <a:rPr sz="1350" b="1" i="0">
                  <a:solidFill>
                    <a:srgbClr val="486AFD"/>
                  </a:solidFill>
                  <a:latin typeface="Open Sans"/>
                </a:rPr>
                <a:t>Year-One Pilot</a:t>
              </a:r>
              <a:endParaRPr b="1" sz="14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2100" b="0" i="0">
                  <a:solidFill>
                    <a:srgbClr val="1E293B"/>
                  </a:solidFill>
                  <a:latin typeface="Open Sans ExtraBold"/>
                </a:rPr>
                <a:t>SOM</a:t>
              </a: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4800" b="0" i="0">
                  <a:solidFill>
                    <a:srgbClr val="486AFD"/>
                  </a:solidFill>
                  <a:latin typeface="Open Sans ExtraBold"/>
                </a:rPr>
                <a:t>1 + 2–3</a:t>
              </a:r>
            </a:p>
            <a:p>
              <a:pPr algn="l">
                <a:lnSpc>
                  <a:spcPct val="103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10" b="0" i="0">
                  <a:solidFill>
                    <a:srgbClr val="475569"/>
                  </a:solidFill>
                  <a:latin typeface="Open Sans"/>
                </a:rPr>
                <a:t>One CETP plus two to three connected member units for field validation.</a:t>
              </a:r>
            </a:p>
          </p:txBody>
        </p:sp>
      </p:grpSp>
      <p:grpSp>
        <p:nvGrpSpPr>
          <p:cNvPr id="304" name="Google Shape;304;p8"/>
          <p:cNvGrpSpPr/>
          <p:nvPr/>
        </p:nvGrpSpPr>
        <p:grpSpPr>
          <a:xfrm>
            <a:off x="1333500" y="7905750"/>
            <a:ext cx="15621000" cy="762000"/>
            <a:chOff x="0" y="0"/>
            <a:chExt cx="15621000" cy="762000"/>
          </a:xfrm>
        </p:grpSpPr>
        <p:sp>
          <p:nvSpPr>
            <p:cNvPr id="305" name="Google Shape;305;p8"/>
            <p:cNvSpPr/>
            <p:nvPr/>
          </p:nvSpPr>
          <p:spPr>
            <a:xfrm>
              <a:off x="0" y="0"/>
              <a:ext cx="15621000" cy="762000"/>
            </a:xfrm>
            <a:prstGeom prst="roundRect">
              <a:avLst>
                <a:gd fmla="val 12500" name="adj"/>
              </a:avLst>
            </a:prstGeom>
            <a:solidFill>
              <a:srgbClr val="EEF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8"/>
            <p:cNvSpPr txBox="1"/>
            <p:nvPr/>
          </p:nvSpPr>
          <p:spPr>
            <a:xfrm>
              <a:off x="285750" y="142875"/>
              <a:ext cx="15049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/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220" b="0" i="0">
                  <a:solidFill>
                    <a:srgbClr val="486AFD"/>
                  </a:solidFill>
                  <a:latin typeface="Open Sans ExtraBold"/>
                </a:rPr>
                <a:t>GROUNDING: </a:t>
              </a:r>
              <a:r>
                <a:rPr sz="1220" b="0" i="0">
                  <a:solidFill>
                    <a:srgbClr val="475569"/>
                  </a:solidFill>
                  <a:latin typeface="Open Sans SemiBold"/>
                </a:rPr>
                <a:t>Sizing is shown as deployment count, not speculative revenue. Wider industrial-cluster expansion follows validated pilots.</a:t>
              </a:r>
              <a:endParaRPr b="0" sz="1300">
                <a:solidFill>
                  <a:srgbClr val="475569"/>
                </a:solidFill>
                <a:latin typeface="Open Sans SemiBold"/>
                <a:ea typeface="Open Sans SemiBold"/>
                <a:cs typeface="Open Sans SemiBold"/>
                <a:sym typeface="Open Sans SemiBold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g3f80270db7c_0_28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23" y="43647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g3f80270db7c_0_2884"/>
          <p:cNvSpPr/>
          <p:nvPr/>
        </p:nvSpPr>
        <p:spPr>
          <a:xfrm>
            <a:off x="17621250" y="1905000"/>
            <a:ext cx="666900" cy="952500"/>
          </a:xfrm>
          <a:custGeom>
            <a:rect b="b" l="l" r="r" t="t"/>
            <a:pathLst>
              <a:path extrusionOk="0" h="120000" w="120000">
                <a:moveTo>
                  <a:pt x="120000" y="0"/>
                </a:moveTo>
                <a:lnTo>
                  <a:pt x="0" y="24000"/>
                </a:lnTo>
                <a:lnTo>
                  <a:pt x="85714" y="120000"/>
                </a:lnTo>
                <a:close/>
              </a:path>
            </a:pathLst>
          </a:custGeom>
          <a:solidFill>
            <a:srgbClr val="A855F7">
              <a:alpha val="1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f80270db7c_0_2884"/>
          <p:cNvSpPr/>
          <p:nvPr/>
        </p:nvSpPr>
        <p:spPr>
          <a:xfrm>
            <a:off x="87300" y="7620000"/>
            <a:ext cx="1246200" cy="238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quadBezTo>
                  <a:pt x="120000" y="24000"/>
                  <a:pt x="75000" y="72000"/>
                </a:quadBezTo>
                <a:lnTo>
                  <a:pt x="0" y="120000"/>
                </a:lnTo>
                <a:close/>
              </a:path>
            </a:pathLst>
          </a:custGeom>
          <a:solidFill>
            <a:srgbClr val="3B82F6">
              <a:alpha val="1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f80270db7c_0_2884"/>
          <p:cNvSpPr txBox="1"/>
          <p:nvPr/>
        </p:nvSpPr>
        <p:spPr>
          <a:xfrm>
            <a:off x="1333500" y="1428750"/>
            <a:ext cx="95250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1" i="0">
                <a:solidFill>
                  <a:srgbClr val="486AFD"/>
                </a:solidFill>
                <a:latin typeface="Open Sans"/>
              </a:rPr>
              <a:t>Where We're Headed</a:t>
            </a:r>
            <a:endParaRPr b="1" sz="1600">
              <a:solidFill>
                <a:srgbClr val="486AF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 i="0">
                <a:solidFill>
                  <a:srgbClr val="1E293B"/>
                </a:solidFill>
                <a:latin typeface="Open Sans ExtraBold"/>
              </a:rPr>
              <a:t>ROADMAP &amp; NEXT STEPS</a:t>
            </a:r>
          </a:p>
        </p:txBody>
      </p:sp>
      <p:grpSp>
        <p:nvGrpSpPr>
          <p:cNvPr id="315" name="Google Shape;315;g3f80270db7c_0_2884"/>
          <p:cNvGrpSpPr/>
          <p:nvPr/>
        </p:nvGrpSpPr>
        <p:grpSpPr>
          <a:xfrm>
            <a:off x="1333500" y="3238500"/>
            <a:ext cx="3619500" cy="4381500"/>
            <a:chOff x="0" y="0"/>
            <a:chExt cx="3619500" cy="4381500"/>
          </a:xfrm>
        </p:grpSpPr>
        <p:sp>
          <p:nvSpPr>
            <p:cNvPr id="316" name="Google Shape;316;g3f80270db7c_0_2884"/>
            <p:cNvSpPr/>
            <p:nvPr/>
          </p:nvSpPr>
          <p:spPr>
            <a:xfrm>
              <a:off x="0" y="0"/>
              <a:ext cx="3619500" cy="4381500"/>
            </a:xfrm>
            <a:prstGeom prst="roundRect">
              <a:avLst>
                <a:gd fmla="val 5263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g3f80270db7c_0_2884"/>
            <p:cNvSpPr txBox="1"/>
            <p:nvPr/>
          </p:nvSpPr>
          <p:spPr>
            <a:xfrm>
              <a:off x="381000" y="381000"/>
              <a:ext cx="28575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/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None/>
              </a:pPr>
              <a:r>
                <a:rPr sz="3400" b="0" i="0">
                  <a:solidFill>
                    <a:srgbClr val="486AFD"/>
                  </a:solidFill>
                  <a:latin typeface="Open Sans ExtraBold"/>
                </a:rPr>
                <a:t>01</a:t>
              </a:r>
              <a:endParaRPr b="0" sz="3600">
                <a:solidFill>
                  <a:srgbClr val="486AFD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algn="l">
                <a:lnSpc>
                  <a:spcPct val="95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1720" b="0" i="0">
                  <a:solidFill>
                    <a:srgbClr val="1E293B"/>
                  </a:solidFill>
                  <a:latin typeface="Open Sans ExtraBold"/>
                </a:rPr>
                <a:t>PROTOTYPE &amp; CALIBRATE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sz="1250" b="1" i="0">
                  <a:solidFill>
                    <a:srgbClr val="486AFD"/>
                  </a:solidFill>
                  <a:latin typeface="Open Sans"/>
                </a:rPr>
                <a:t>PHASE 1</a:t>
              </a:r>
            </a:p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30" b="0" i="0">
                  <a:solidFill>
                    <a:srgbClr val="475569"/>
                  </a:solidFill>
                  <a:latin typeface="Open Sans"/>
                </a:rPr>
                <a:t>Build Plan A on a single outflow line, collect labelled samples, establish thresholds and validate the fail-safe valve.</a:t>
              </a:r>
            </a:p>
          </p:txBody>
        </p:sp>
      </p:grpSp>
      <p:grpSp>
        <p:nvGrpSpPr>
          <p:cNvPr id="318" name="Google Shape;318;g3f80270db7c_0_2884"/>
          <p:cNvGrpSpPr/>
          <p:nvPr/>
        </p:nvGrpSpPr>
        <p:grpSpPr>
          <a:xfrm>
            <a:off x="5334000" y="3238500"/>
            <a:ext cx="3619500" cy="4381500"/>
            <a:chOff x="0" y="0"/>
            <a:chExt cx="3619500" cy="4381500"/>
          </a:xfrm>
        </p:grpSpPr>
        <p:sp>
          <p:nvSpPr>
            <p:cNvPr id="319" name="Google Shape;319;g3f80270db7c_0_2884"/>
            <p:cNvSpPr/>
            <p:nvPr/>
          </p:nvSpPr>
          <p:spPr>
            <a:xfrm>
              <a:off x="0" y="0"/>
              <a:ext cx="3619500" cy="4381500"/>
            </a:xfrm>
            <a:prstGeom prst="roundRect">
              <a:avLst>
                <a:gd fmla="val 5263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g3f80270db7c_0_2884"/>
            <p:cNvSpPr txBox="1"/>
            <p:nvPr/>
          </p:nvSpPr>
          <p:spPr>
            <a:xfrm>
              <a:off x="381000" y="381000"/>
              <a:ext cx="28575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/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None/>
              </a:pPr>
              <a:r>
                <a:rPr sz="3400" b="0" i="0">
                  <a:solidFill>
                    <a:srgbClr val="486AFD"/>
                  </a:solidFill>
                  <a:latin typeface="Open Sans ExtraBold"/>
                </a:rPr>
                <a:t>02</a:t>
              </a:r>
              <a:endParaRPr b="0" sz="3600">
                <a:solidFill>
                  <a:srgbClr val="486AFD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algn="l">
                <a:lnSpc>
                  <a:spcPct val="95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1720" b="0" i="0">
                  <a:solidFill>
                    <a:srgbClr val="1E293B"/>
                  </a:solidFill>
                  <a:latin typeface="Open Sans ExtraBold"/>
                </a:rPr>
                <a:t>CETP PILOT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sz="1250" b="1" i="0">
                  <a:solidFill>
                    <a:srgbClr val="486AFD"/>
                  </a:solidFill>
                  <a:latin typeface="Open Sans"/>
                </a:rPr>
                <a:t>PHASE 2</a:t>
              </a:r>
            </a:p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30" b="0" i="0">
                  <a:solidFill>
                    <a:srgbClr val="475569"/>
                  </a:solidFill>
                  <a:latin typeface="Open Sans"/>
                </a:rPr>
                <a:t>Deploy across 2–3 member units feeding one CETP; verify sensor accuracy, intervention timing and audit logs.</a:t>
              </a:r>
            </a:p>
          </p:txBody>
        </p:sp>
      </p:grpSp>
      <p:grpSp>
        <p:nvGrpSpPr>
          <p:cNvPr id="321" name="Google Shape;321;g3f80270db7c_0_2884"/>
          <p:cNvGrpSpPr/>
          <p:nvPr/>
        </p:nvGrpSpPr>
        <p:grpSpPr>
          <a:xfrm>
            <a:off x="9334500" y="3238500"/>
            <a:ext cx="3619500" cy="4381500"/>
            <a:chOff x="0" y="0"/>
            <a:chExt cx="3619500" cy="4381500"/>
          </a:xfrm>
        </p:grpSpPr>
        <p:sp>
          <p:nvSpPr>
            <p:cNvPr id="322" name="Google Shape;322;g3f80270db7c_0_2884"/>
            <p:cNvSpPr/>
            <p:nvPr/>
          </p:nvSpPr>
          <p:spPr>
            <a:xfrm>
              <a:off x="0" y="0"/>
              <a:ext cx="3619500" cy="4381500"/>
            </a:xfrm>
            <a:prstGeom prst="roundRect">
              <a:avLst>
                <a:gd fmla="val 5263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g3f80270db7c_0_2884"/>
            <p:cNvSpPr txBox="1"/>
            <p:nvPr/>
          </p:nvSpPr>
          <p:spPr>
            <a:xfrm>
              <a:off x="381000" y="381000"/>
              <a:ext cx="28575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/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None/>
              </a:pPr>
              <a:r>
                <a:rPr sz="3400" b="0" i="0">
                  <a:solidFill>
                    <a:srgbClr val="486AFD"/>
                  </a:solidFill>
                  <a:latin typeface="Open Sans ExtraBold"/>
                </a:rPr>
                <a:t>03</a:t>
              </a:r>
              <a:endParaRPr b="0" sz="3600">
                <a:solidFill>
                  <a:srgbClr val="486AFD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algn="l">
                <a:lnSpc>
                  <a:spcPct val="95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1720" b="0" i="0">
                  <a:solidFill>
                    <a:srgbClr val="1E293B"/>
                  </a:solidFill>
                  <a:latin typeface="Open Sans ExtraBold"/>
                </a:rPr>
                <a:t>ADD PRE-TREATMENT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sz="1250" b="1" i="0">
                  <a:solidFill>
                    <a:srgbClr val="486AFD"/>
                  </a:solidFill>
                  <a:latin typeface="Open Sans"/>
                </a:rPr>
                <a:t>PHASE 3</a:t>
              </a:r>
            </a:p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30" b="0" i="0">
                  <a:solidFill>
                    <a:srgbClr val="475569"/>
                  </a:solidFill>
                  <a:latin typeface="Open Sans"/>
                </a:rPr>
                <a:t>Introduce the holding-tank and dosing layer; measure contaminant reduction before CETP hand-off.</a:t>
              </a:r>
            </a:p>
          </p:txBody>
        </p:sp>
      </p:grpSp>
      <p:grpSp>
        <p:nvGrpSpPr>
          <p:cNvPr id="324" name="Google Shape;324;g3f80270db7c_0_2884"/>
          <p:cNvGrpSpPr/>
          <p:nvPr/>
        </p:nvGrpSpPr>
        <p:grpSpPr>
          <a:xfrm>
            <a:off x="13335000" y="3238500"/>
            <a:ext cx="3619500" cy="4381500"/>
            <a:chOff x="0" y="0"/>
            <a:chExt cx="3619500" cy="4381500"/>
          </a:xfrm>
        </p:grpSpPr>
        <p:sp>
          <p:nvSpPr>
            <p:cNvPr id="325" name="Google Shape;325;g3f80270db7c_0_2884"/>
            <p:cNvSpPr/>
            <p:nvPr/>
          </p:nvSpPr>
          <p:spPr>
            <a:xfrm>
              <a:off x="0" y="0"/>
              <a:ext cx="3619500" cy="4381500"/>
            </a:xfrm>
            <a:prstGeom prst="roundRect">
              <a:avLst>
                <a:gd fmla="val 5263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g3f80270db7c_0_2884"/>
            <p:cNvSpPr txBox="1"/>
            <p:nvPr/>
          </p:nvSpPr>
          <p:spPr>
            <a:xfrm>
              <a:off x="381000" y="381000"/>
              <a:ext cx="28575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/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None/>
              </a:pPr>
              <a:r>
                <a:rPr sz="3400" b="0" i="0">
                  <a:solidFill>
                    <a:srgbClr val="486AFD"/>
                  </a:solidFill>
                  <a:latin typeface="Open Sans ExtraBold"/>
                </a:rPr>
                <a:t>04</a:t>
              </a:r>
              <a:endParaRPr b="0" sz="3600">
                <a:solidFill>
                  <a:srgbClr val="486AFD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algn="l">
                <a:lnSpc>
                  <a:spcPct val="95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1720" b="0" i="0">
                  <a:solidFill>
                    <a:srgbClr val="1E293B"/>
                  </a:solidFill>
                  <a:latin typeface="Open Sans ExtraBold"/>
                </a:rPr>
                <a:t>REGULATORY SCALE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sz="1250" b="1" i="0">
                  <a:solidFill>
                    <a:srgbClr val="486AFD"/>
                  </a:solidFill>
                  <a:latin typeface="Open Sans"/>
                </a:rPr>
                <a:t>PHASE 4</a:t>
              </a:r>
            </a:p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30" b="0" i="0">
                  <a:solidFill>
                    <a:srgbClr val="475569"/>
                  </a:solidFill>
                  <a:latin typeface="Open Sans"/>
                </a:rPr>
                <a:t>Pursue a TNPCB pilot and procurement pathway; replicate across pollution-heavy industrial clusters.</a:t>
              </a:r>
            </a:p>
          </p:txBody>
        </p:sp>
      </p:grpSp>
      <p:grpSp>
        <p:nvGrpSpPr>
          <p:cNvPr id="327" name="Google Shape;327;g3f80270db7c_0_2884"/>
          <p:cNvGrpSpPr/>
          <p:nvPr/>
        </p:nvGrpSpPr>
        <p:grpSpPr>
          <a:xfrm>
            <a:off x="1333500" y="7905750"/>
            <a:ext cx="15621000" cy="762000"/>
            <a:chOff x="0" y="0"/>
            <a:chExt cx="15621000" cy="762000"/>
          </a:xfrm>
        </p:grpSpPr>
        <p:sp>
          <p:nvSpPr>
            <p:cNvPr id="328" name="Google Shape;328;g3f80270db7c_0_2884"/>
            <p:cNvSpPr/>
            <p:nvPr/>
          </p:nvSpPr>
          <p:spPr>
            <a:xfrm>
              <a:off x="0" y="0"/>
              <a:ext cx="15621000" cy="762000"/>
            </a:xfrm>
            <a:prstGeom prst="roundRect">
              <a:avLst>
                <a:gd fmla="val 12500" name="adj"/>
              </a:avLst>
            </a:prstGeom>
            <a:solidFill>
              <a:srgbClr val="EEF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g3f80270db7c_0_2884"/>
            <p:cNvSpPr txBox="1"/>
            <p:nvPr/>
          </p:nvSpPr>
          <p:spPr>
            <a:xfrm>
              <a:off x="285750" y="190500"/>
              <a:ext cx="15049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/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250" b="1" i="0">
                  <a:solidFill>
                    <a:srgbClr val="486AFD"/>
                  </a:solidFill>
                  <a:latin typeface="Open Sans"/>
                </a:rPr>
                <a:t>LONG-TERM VISION: </a:t>
              </a:r>
              <a:r>
                <a:rPr sz="1250" b="0" i="0">
                  <a:solidFill>
                    <a:srgbClr val="475569"/>
                  </a:solidFill>
                  <a:latin typeface="Open Sans SemiBold"/>
                </a:rPr>
                <a:t>A state-wide effluent intervention network feeding a live compliance map for regulators across Tamil Nadu.</a:t>
              </a:r>
              <a:endParaRPr b="1" sz="13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30" name="Google Shape;330;g3f80270db7c_0_2884"/>
          <p:cNvSpPr/>
          <p:nvPr/>
        </p:nvSpPr>
        <p:spPr>
          <a:xfrm>
            <a:off x="199210" y="-57150"/>
            <a:ext cx="5267831" cy="1755944"/>
          </a:xfrm>
          <a:custGeom>
            <a:rect b="b" l="l" r="r" t="t"/>
            <a:pathLst>
              <a:path extrusionOk="0" h="1755944" w="5267831">
                <a:moveTo>
                  <a:pt x="0" y="0"/>
                </a:moveTo>
                <a:lnTo>
                  <a:pt x="5267831" y="0"/>
                </a:lnTo>
                <a:lnTo>
                  <a:pt x="5267831" y="1755944"/>
                </a:lnTo>
                <a:lnTo>
                  <a:pt x="0" y="17559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31" name="Google Shape;331;g3f80270db7c_0_2884"/>
          <p:cNvSpPr/>
          <p:nvPr/>
        </p:nvSpPr>
        <p:spPr>
          <a:xfrm>
            <a:off x="14799394" y="438739"/>
            <a:ext cx="3140410" cy="764166"/>
          </a:xfrm>
          <a:custGeom>
            <a:rect b="b" l="l" r="r" t="t"/>
            <a:pathLst>
              <a:path extrusionOk="0" h="764166" w="3140410">
                <a:moveTo>
                  <a:pt x="0" y="0"/>
                </a:moveTo>
                <a:lnTo>
                  <a:pt x="3140410" y="0"/>
                </a:lnTo>
                <a:lnTo>
                  <a:pt x="3140410" y="764166"/>
                </a:lnTo>
                <a:lnTo>
                  <a:pt x="0" y="7641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32" name="Google Shape;332;g3f80270db7c_0_2884"/>
          <p:cNvSpPr/>
          <p:nvPr/>
        </p:nvSpPr>
        <p:spPr>
          <a:xfrm rot="744277">
            <a:off x="-3111650" y="4768904"/>
            <a:ext cx="4072028" cy="4118360"/>
          </a:xfrm>
          <a:custGeom>
            <a:rect b="b" l="l" r="r" t="t"/>
            <a:pathLst>
              <a:path extrusionOk="0" h="4114800" w="4068508">
                <a:moveTo>
                  <a:pt x="0" y="0"/>
                </a:moveTo>
                <a:lnTo>
                  <a:pt x="4068508" y="0"/>
                </a:lnTo>
                <a:lnTo>
                  <a:pt x="4068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33" name="Google Shape;333;g3f80270db7c_0_2884"/>
          <p:cNvSpPr/>
          <p:nvPr/>
        </p:nvSpPr>
        <p:spPr>
          <a:xfrm rot="1770831">
            <a:off x="-1789340" y="7446447"/>
            <a:ext cx="3076965" cy="2092337"/>
          </a:xfrm>
          <a:custGeom>
            <a:rect b="b" l="l" r="r" t="t"/>
            <a:pathLst>
              <a:path extrusionOk="0" h="2092906" w="3077802">
                <a:moveTo>
                  <a:pt x="0" y="0"/>
                </a:moveTo>
                <a:lnTo>
                  <a:pt x="3077802" y="0"/>
                </a:lnTo>
                <a:lnTo>
                  <a:pt x="3077802" y="2092906"/>
                </a:lnTo>
                <a:lnTo>
                  <a:pt x="0" y="20929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34" name="Google Shape;334;g3f80270db7c_0_2884"/>
          <p:cNvSpPr/>
          <p:nvPr/>
        </p:nvSpPr>
        <p:spPr>
          <a:xfrm rot="1952229">
            <a:off x="16582574" y="3024474"/>
            <a:ext cx="3681941" cy="4213954"/>
          </a:xfrm>
          <a:custGeom>
            <a:rect b="b" l="l" r="r" t="t"/>
            <a:pathLst>
              <a:path extrusionOk="0" h="4216669" w="3684314">
                <a:moveTo>
                  <a:pt x="0" y="0"/>
                </a:moveTo>
                <a:lnTo>
                  <a:pt x="3684314" y="0"/>
                </a:lnTo>
                <a:lnTo>
                  <a:pt x="3684314" y="4216669"/>
                </a:lnTo>
                <a:lnTo>
                  <a:pt x="0" y="42166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35" name="Google Shape;335;g3f80270db7c_0_2884"/>
          <p:cNvSpPr/>
          <p:nvPr/>
        </p:nvSpPr>
        <p:spPr>
          <a:xfrm>
            <a:off x="16679493" y="2500431"/>
            <a:ext cx="1967557" cy="1879180"/>
          </a:xfrm>
          <a:custGeom>
            <a:rect b="b" l="l" r="r" t="t"/>
            <a:pathLst>
              <a:path extrusionOk="0" h="1879180" w="1967557">
                <a:moveTo>
                  <a:pt x="0" y="0"/>
                </a:moveTo>
                <a:lnTo>
                  <a:pt x="1967557" y="0"/>
                </a:lnTo>
                <a:lnTo>
                  <a:pt x="1967557" y="1879180"/>
                </a:lnTo>
                <a:lnTo>
                  <a:pt x="0" y="18791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36" name="Google Shape;336;g3f80270db7c_0_2884"/>
          <p:cNvSpPr/>
          <p:nvPr/>
        </p:nvSpPr>
        <p:spPr>
          <a:xfrm>
            <a:off x="17736411" y="6274217"/>
            <a:ext cx="891716" cy="754202"/>
          </a:xfrm>
          <a:custGeom>
            <a:rect b="b" l="l" r="r" t="t"/>
            <a:pathLst>
              <a:path extrusionOk="0" h="754202" w="891716">
                <a:moveTo>
                  <a:pt x="0" y="0"/>
                </a:moveTo>
                <a:lnTo>
                  <a:pt x="891716" y="0"/>
                </a:lnTo>
                <a:lnTo>
                  <a:pt x="891716" y="754202"/>
                </a:lnTo>
                <a:lnTo>
                  <a:pt x="0" y="7542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37" name="Google Shape;337;g3f80270db7c_0_2884"/>
          <p:cNvSpPr/>
          <p:nvPr/>
        </p:nvSpPr>
        <p:spPr>
          <a:xfrm>
            <a:off x="16056873" y="8944972"/>
            <a:ext cx="2125396" cy="1416931"/>
          </a:xfrm>
          <a:custGeom>
            <a:rect b="b" l="l" r="r" t="t"/>
            <a:pathLst>
              <a:path extrusionOk="0" h="1416931" w="2125396">
                <a:moveTo>
                  <a:pt x="0" y="0"/>
                </a:moveTo>
                <a:lnTo>
                  <a:pt x="2125396" y="0"/>
                </a:lnTo>
                <a:lnTo>
                  <a:pt x="2125396" y="1416931"/>
                </a:lnTo>
                <a:lnTo>
                  <a:pt x="0" y="141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f4ec2d9a0a_0_0"/>
          <p:cNvSpPr/>
          <p:nvPr/>
        </p:nvSpPr>
        <p:spPr>
          <a:xfrm>
            <a:off x="199210" y="-57150"/>
            <a:ext cx="5267831" cy="1755944"/>
          </a:xfrm>
          <a:custGeom>
            <a:rect b="b" l="l" r="r" t="t"/>
            <a:pathLst>
              <a:path extrusionOk="0" h="1755944" w="5267831">
                <a:moveTo>
                  <a:pt x="0" y="0"/>
                </a:moveTo>
                <a:lnTo>
                  <a:pt x="5267831" y="0"/>
                </a:lnTo>
                <a:lnTo>
                  <a:pt x="5267831" y="1755944"/>
                </a:lnTo>
                <a:lnTo>
                  <a:pt x="0" y="17559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43" name="Google Shape;343;g3f4ec2d9a0a_0_0"/>
          <p:cNvSpPr/>
          <p:nvPr/>
        </p:nvSpPr>
        <p:spPr>
          <a:xfrm>
            <a:off x="14799394" y="438739"/>
            <a:ext cx="3140410" cy="764166"/>
          </a:xfrm>
          <a:custGeom>
            <a:rect b="b" l="l" r="r" t="t"/>
            <a:pathLst>
              <a:path extrusionOk="0" h="764166" w="3140410">
                <a:moveTo>
                  <a:pt x="0" y="0"/>
                </a:moveTo>
                <a:lnTo>
                  <a:pt x="3140410" y="0"/>
                </a:lnTo>
                <a:lnTo>
                  <a:pt x="3140410" y="764166"/>
                </a:lnTo>
                <a:lnTo>
                  <a:pt x="0" y="7641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44" name="Google Shape;344;g3f4ec2d9a0a_0_0"/>
          <p:cNvSpPr/>
          <p:nvPr/>
        </p:nvSpPr>
        <p:spPr>
          <a:xfrm rot="744277">
            <a:off x="-3111650" y="4768904"/>
            <a:ext cx="4072028" cy="4118360"/>
          </a:xfrm>
          <a:custGeom>
            <a:rect b="b" l="l" r="r" t="t"/>
            <a:pathLst>
              <a:path extrusionOk="0" h="4114800" w="4068508">
                <a:moveTo>
                  <a:pt x="0" y="0"/>
                </a:moveTo>
                <a:lnTo>
                  <a:pt x="4068508" y="0"/>
                </a:lnTo>
                <a:lnTo>
                  <a:pt x="4068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45" name="Google Shape;345;g3f4ec2d9a0a_0_0"/>
          <p:cNvSpPr/>
          <p:nvPr/>
        </p:nvSpPr>
        <p:spPr>
          <a:xfrm rot="1770831">
            <a:off x="-1789340" y="7446447"/>
            <a:ext cx="3076965" cy="2092337"/>
          </a:xfrm>
          <a:custGeom>
            <a:rect b="b" l="l" r="r" t="t"/>
            <a:pathLst>
              <a:path extrusionOk="0" h="2092906" w="3077802">
                <a:moveTo>
                  <a:pt x="0" y="0"/>
                </a:moveTo>
                <a:lnTo>
                  <a:pt x="3077802" y="0"/>
                </a:lnTo>
                <a:lnTo>
                  <a:pt x="3077802" y="2092906"/>
                </a:lnTo>
                <a:lnTo>
                  <a:pt x="0" y="20929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46" name="Google Shape;346;g3f4ec2d9a0a_0_0"/>
          <p:cNvSpPr/>
          <p:nvPr/>
        </p:nvSpPr>
        <p:spPr>
          <a:xfrm>
            <a:off x="16679493" y="2500431"/>
            <a:ext cx="1967557" cy="1879180"/>
          </a:xfrm>
          <a:custGeom>
            <a:rect b="b" l="l" r="r" t="t"/>
            <a:pathLst>
              <a:path extrusionOk="0" h="1879180" w="1967557">
                <a:moveTo>
                  <a:pt x="0" y="0"/>
                </a:moveTo>
                <a:lnTo>
                  <a:pt x="1967557" y="0"/>
                </a:lnTo>
                <a:lnTo>
                  <a:pt x="1967557" y="1879180"/>
                </a:lnTo>
                <a:lnTo>
                  <a:pt x="0" y="18791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47" name="Google Shape;347;g3f4ec2d9a0a_0_0"/>
          <p:cNvSpPr/>
          <p:nvPr/>
        </p:nvSpPr>
        <p:spPr>
          <a:xfrm rot="1952229">
            <a:off x="16582574" y="3024474"/>
            <a:ext cx="3681941" cy="4213954"/>
          </a:xfrm>
          <a:custGeom>
            <a:rect b="b" l="l" r="r" t="t"/>
            <a:pathLst>
              <a:path extrusionOk="0" h="4216669" w="3684314">
                <a:moveTo>
                  <a:pt x="0" y="0"/>
                </a:moveTo>
                <a:lnTo>
                  <a:pt x="3684314" y="0"/>
                </a:lnTo>
                <a:lnTo>
                  <a:pt x="3684314" y="4216669"/>
                </a:lnTo>
                <a:lnTo>
                  <a:pt x="0" y="42166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48" name="Google Shape;348;g3f4ec2d9a0a_0_0"/>
          <p:cNvSpPr/>
          <p:nvPr/>
        </p:nvSpPr>
        <p:spPr>
          <a:xfrm>
            <a:off x="17736411" y="6274217"/>
            <a:ext cx="891716" cy="754202"/>
          </a:xfrm>
          <a:custGeom>
            <a:rect b="b" l="l" r="r" t="t"/>
            <a:pathLst>
              <a:path extrusionOk="0" h="754202" w="891716">
                <a:moveTo>
                  <a:pt x="0" y="0"/>
                </a:moveTo>
                <a:lnTo>
                  <a:pt x="891716" y="0"/>
                </a:lnTo>
                <a:lnTo>
                  <a:pt x="891716" y="754202"/>
                </a:lnTo>
                <a:lnTo>
                  <a:pt x="0" y="7542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49" name="Google Shape;349;g3f4ec2d9a0a_0_0"/>
          <p:cNvSpPr/>
          <p:nvPr/>
        </p:nvSpPr>
        <p:spPr>
          <a:xfrm>
            <a:off x="16056873" y="8944972"/>
            <a:ext cx="2125396" cy="1416931"/>
          </a:xfrm>
          <a:custGeom>
            <a:rect b="b" l="l" r="r" t="t"/>
            <a:pathLst>
              <a:path extrusionOk="0" h="1416931" w="2125396">
                <a:moveTo>
                  <a:pt x="0" y="0"/>
                </a:moveTo>
                <a:lnTo>
                  <a:pt x="2125396" y="0"/>
                </a:lnTo>
                <a:lnTo>
                  <a:pt x="2125396" y="1416931"/>
                </a:lnTo>
                <a:lnTo>
                  <a:pt x="0" y="141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grpSp>
        <p:nvGrpSpPr>
          <p:cNvPr id="350" name="Google Shape;350;g3f4ec2d9a0a_0_0"/>
          <p:cNvGrpSpPr/>
          <p:nvPr/>
        </p:nvGrpSpPr>
        <p:grpSpPr>
          <a:xfrm>
            <a:off x="1333500" y="1428750"/>
            <a:ext cx="9525000" cy="1238400"/>
            <a:chOff x="0" y="0"/>
            <a:chExt cx="9525000" cy="1238400"/>
          </a:xfrm>
        </p:grpSpPr>
        <p:sp>
          <p:nvSpPr>
            <p:cNvPr id="351" name="Google Shape;351;g3f4ec2d9a0a_0_0"/>
            <p:cNvSpPr/>
            <p:nvPr/>
          </p:nvSpPr>
          <p:spPr>
            <a:xfrm>
              <a:off x="0" y="0"/>
              <a:ext cx="9525000" cy="12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g3f4ec2d9a0a_0_0"/>
            <p:cNvSpPr txBox="1"/>
            <p:nvPr/>
          </p:nvSpPr>
          <p:spPr>
            <a:xfrm>
              <a:off x="0" y="0"/>
              <a:ext cx="9525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/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None/>
              </a:pPr>
              <a:r>
                <a:rPr sz="1600" b="1" i="0">
                  <a:solidFill>
                    <a:srgbClr val="486AFD"/>
                  </a:solidFill>
                  <a:latin typeface="Open Sans"/>
                </a:rPr>
                <a:t>Prototype Readiness</a:t>
              </a:r>
              <a:endParaRPr b="1" sz="16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200" b="0" i="0">
                  <a:solidFill>
                    <a:srgbClr val="1E293B"/>
                  </a:solidFill>
                  <a:latin typeface="Open Sans ExtraBold"/>
                </a:rPr>
                <a:t>BUILD, VALIDATE &amp; DEMONSTRATE</a:t>
              </a:r>
            </a:p>
          </p:txBody>
        </p:sp>
      </p:grpSp>
      <p:sp>
        <p:nvSpPr>
          <p:cNvPr id="353" name="Rounded Rectangle 352"/>
          <p:cNvSpPr/>
          <p:nvPr/>
        </p:nvSpPr>
        <p:spPr>
          <a:xfrm>
            <a:off x="1353312" y="3090672"/>
            <a:ext cx="6492240" cy="452628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4" name="TextBox 353"/>
          <p:cNvSpPr txBox="1"/>
          <p:nvPr/>
        </p:nvSpPr>
        <p:spPr>
          <a:xfrm>
            <a:off x="1353312" y="3090672"/>
            <a:ext cx="6492240" cy="4526280"/>
          </a:xfrm>
          <a:prstGeom prst="rect">
            <a:avLst/>
          </a:prstGeom>
          <a:noFill/>
        </p:spPr>
        <p:txBody>
          <a:bodyPr wrap="square" anchor="t" lIns="320040" rIns="320040" tIns="320040" bIns="32004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 i="0">
                <a:solidFill>
                  <a:srgbClr val="1E293B"/>
                </a:solidFill>
                <a:latin typeface="Open Sans ExtraBold"/>
              </a:rPr>
              <a:t>CURRENT PROTOTYPE SCOPE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486AFD"/>
                </a:solidFill>
                <a:latin typeface="Open Sans ExtraBold"/>
              </a:rPr>
              <a:t>• </a:t>
            </a:r>
            <a:r>
              <a:rPr sz="1400" b="0" i="0">
                <a:solidFill>
                  <a:srgbClr val="475569"/>
                </a:solidFill>
                <a:latin typeface="Open Sans"/>
              </a:rPr>
              <a:t>Sensor stack: turbidity, pH, TDS, RGB colour and ESP32.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486AFD"/>
                </a:solidFill>
                <a:latin typeface="Open Sans ExtraBold"/>
              </a:rPr>
              <a:t>• </a:t>
            </a:r>
            <a:r>
              <a:rPr sz="1400" b="0" i="0">
                <a:solidFill>
                  <a:srgbClr val="475569"/>
                </a:solidFill>
                <a:latin typeface="Open Sans"/>
              </a:rPr>
              <a:t>Plan A: sensor pod + classifier + solenoid diversion valve.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486AFD"/>
                </a:solidFill>
                <a:latin typeface="Open Sans ExtraBold"/>
              </a:rPr>
              <a:t>• </a:t>
            </a:r>
            <a:r>
              <a:rPr sz="1400" b="0" i="0">
                <a:solidFill>
                  <a:srgbClr val="475569"/>
                </a:solidFill>
                <a:latin typeface="Open Sans"/>
              </a:rPr>
              <a:t>Plan B: holding tank + dosing pump as a pre-treatment buffer.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486AFD"/>
                </a:solidFill>
                <a:latin typeface="Open Sans ExtraBold"/>
              </a:rPr>
              <a:t>• </a:t>
            </a:r>
            <a:r>
              <a:rPr sz="1400" b="1" i="0">
                <a:solidFill>
                  <a:srgbClr val="1E293B"/>
                </a:solidFill>
                <a:latin typeface="Open Sans"/>
              </a:rPr>
              <a:t>Status: concept architecture complete; hardware build and field validation are next.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86AFD"/>
                </a:solidFill>
                <a:latin typeface="Open Sans"/>
              </a:rPr>
              <a:t>Validation gates: </a:t>
            </a:r>
            <a:r>
              <a:rPr sz="1300" b="0" i="0">
                <a:solidFill>
                  <a:srgbClr val="475569"/>
                </a:solidFill>
                <a:latin typeface="Open Sans"/>
              </a:rPr>
              <a:t>sensor calibration, false-positive control, valve fail-safe testing, tamper logging and labelled-effluent trials.</a:t>
            </a:r>
          </a:p>
        </p:txBody>
      </p:sp>
      <p:sp>
        <p:nvSpPr>
          <p:cNvPr id="355" name="Rounded Rectangle 354"/>
          <p:cNvSpPr/>
          <p:nvPr/>
        </p:nvSpPr>
        <p:spPr>
          <a:xfrm>
            <a:off x="8275320" y="3090672"/>
            <a:ext cx="8503920" cy="10515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8275320" y="3090672"/>
            <a:ext cx="8503920" cy="1051560"/>
          </a:xfrm>
          <a:prstGeom prst="rect">
            <a:avLst/>
          </a:prstGeom>
          <a:noFill/>
        </p:spPr>
        <p:txBody>
          <a:bodyPr wrap="square" anchor="ctr" lIns="210312" rIns="210312" tIns="210312" bIns="21031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486AFD"/>
                </a:solidFill>
                <a:latin typeface="Open Sans ExtraBold"/>
              </a:rPr>
              <a:t>CORE SENSING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E293B"/>
                </a:solidFill>
                <a:latin typeface="Open Sans ExtraBold"/>
              </a:rPr>
              <a:t>₹3,100–4,400</a:t>
            </a:r>
            <a:r>
              <a:rPr sz="1300" b="0" i="0">
                <a:solidFill>
                  <a:srgbClr val="64748B"/>
                </a:solidFill>
                <a:latin typeface="Open Sans SemiBold"/>
              </a:rPr>
              <a:t>   Shared sensing stack</a:t>
            </a:r>
          </a:p>
        </p:txBody>
      </p:sp>
      <p:sp>
        <p:nvSpPr>
          <p:cNvPr id="357" name="Rounded Rectangle 356"/>
          <p:cNvSpPr/>
          <p:nvPr/>
        </p:nvSpPr>
        <p:spPr>
          <a:xfrm>
            <a:off x="8275320" y="4416552"/>
            <a:ext cx="8503920" cy="10515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8" name="TextBox 357"/>
          <p:cNvSpPr txBox="1"/>
          <p:nvPr/>
        </p:nvSpPr>
        <p:spPr>
          <a:xfrm>
            <a:off x="8275320" y="4416552"/>
            <a:ext cx="8503920" cy="1051560"/>
          </a:xfrm>
          <a:prstGeom prst="rect">
            <a:avLst/>
          </a:prstGeom>
          <a:noFill/>
        </p:spPr>
        <p:txBody>
          <a:bodyPr wrap="square" anchor="ctr" lIns="210312" rIns="210312" tIns="210312" bIns="21031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486AFD"/>
                </a:solidFill>
                <a:latin typeface="Open Sans ExtraBold"/>
              </a:rPr>
              <a:t>PLAN 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E293B"/>
                </a:solidFill>
                <a:latin typeface="Open Sans ExtraBold"/>
              </a:rPr>
              <a:t>₹3,500–5,300</a:t>
            </a:r>
            <a:r>
              <a:rPr sz="1300" b="0" i="0">
                <a:solidFill>
                  <a:srgbClr val="64748B"/>
                </a:solidFill>
                <a:latin typeface="Open Sans SemiBold"/>
              </a:rPr>
              <a:t>   Detect + divert</a:t>
            </a:r>
          </a:p>
        </p:txBody>
      </p:sp>
      <p:sp>
        <p:nvSpPr>
          <p:cNvPr id="359" name="Rounded Rectangle 358"/>
          <p:cNvSpPr/>
          <p:nvPr/>
        </p:nvSpPr>
        <p:spPr>
          <a:xfrm>
            <a:off x="8275320" y="5742431"/>
            <a:ext cx="8503920" cy="10515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0" name="TextBox 359"/>
          <p:cNvSpPr txBox="1"/>
          <p:nvPr/>
        </p:nvSpPr>
        <p:spPr>
          <a:xfrm>
            <a:off x="8275320" y="5742431"/>
            <a:ext cx="8503920" cy="1051560"/>
          </a:xfrm>
          <a:prstGeom prst="rect">
            <a:avLst/>
          </a:prstGeom>
          <a:noFill/>
        </p:spPr>
        <p:txBody>
          <a:bodyPr wrap="square" anchor="ctr" lIns="210312" rIns="210312" tIns="210312" bIns="21031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486AFD"/>
                </a:solidFill>
                <a:latin typeface="Open Sans ExtraBold"/>
              </a:rPr>
              <a:t>PLAN 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E293B"/>
                </a:solidFill>
                <a:latin typeface="Open Sans ExtraBold"/>
              </a:rPr>
              <a:t>₹4,600–7,500</a:t>
            </a:r>
            <a:r>
              <a:rPr sz="1300" b="0" i="0">
                <a:solidFill>
                  <a:srgbClr val="64748B"/>
                </a:solidFill>
                <a:latin typeface="Open Sans SemiBold"/>
              </a:rPr>
              <a:t>   Detect + divert + treat</a:t>
            </a:r>
          </a:p>
        </p:txBody>
      </p:sp>
      <p:sp>
        <p:nvSpPr>
          <p:cNvPr id="361" name="Rounded Rectangle 360"/>
          <p:cNvSpPr/>
          <p:nvPr/>
        </p:nvSpPr>
        <p:spPr>
          <a:xfrm>
            <a:off x="8275320" y="7196328"/>
            <a:ext cx="850392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2" name="TextBox 361"/>
          <p:cNvSpPr txBox="1"/>
          <p:nvPr/>
        </p:nvSpPr>
        <p:spPr>
          <a:xfrm>
            <a:off x="8275320" y="7196328"/>
            <a:ext cx="8503920" cy="640080"/>
          </a:xfrm>
          <a:prstGeom prst="rect">
            <a:avLst/>
          </a:prstGeom>
          <a:noFill/>
        </p:spPr>
        <p:txBody>
          <a:bodyPr wrap="square" anchor="ctr" lIns="109728" rIns="109728" tIns="109728" bIns="10972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475569"/>
                </a:solidFill>
                <a:latin typeface="Open Sans SemiBold"/>
              </a:rPr>
              <a:t>Prototype estimate only. Industrial-grade probes, enclosures, valves and certification can raise deployable cost to ₹40,000–₹1,00,000.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f80270db7c_0_348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3f80270db7c_0_3481"/>
          <p:cNvSpPr/>
          <p:nvPr/>
        </p:nvSpPr>
        <p:spPr>
          <a:xfrm>
            <a:off x="17907000" y="2362200"/>
            <a:ext cx="247800" cy="438300"/>
          </a:xfrm>
          <a:custGeom>
            <a:rect b="b" l="l" r="r" t="t"/>
            <a:pathLst>
              <a:path extrusionOk="0" h="120000" w="120000">
                <a:moveTo>
                  <a:pt x="46154" y="0"/>
                </a:moveTo>
                <a:lnTo>
                  <a:pt x="120000" y="26087"/>
                </a:lnTo>
                <a:lnTo>
                  <a:pt x="55385" y="120000"/>
                </a:lnTo>
                <a:lnTo>
                  <a:pt x="0" y="782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3f80270db7c_0_3481"/>
          <p:cNvSpPr/>
          <p:nvPr/>
        </p:nvSpPr>
        <p:spPr>
          <a:xfrm>
            <a:off x="-2619375" y="4371975"/>
            <a:ext cx="190500" cy="16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35294"/>
                </a:lnTo>
                <a:lnTo>
                  <a:pt x="6000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f80270db7c_0_3481"/>
          <p:cNvSpPr txBox="1"/>
          <p:nvPr/>
        </p:nvSpPr>
        <p:spPr>
          <a:xfrm>
            <a:off x="1333500" y="1524000"/>
            <a:ext cx="95250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486AFD"/>
                </a:solidFill>
                <a:latin typeface="Open Sans"/>
              </a:rPr>
              <a:t/>
            </a:r>
            <a:r>
              <a:rPr sz="6000" b="0" i="0">
                <a:solidFill>
                  <a:srgbClr val="1E293B"/>
                </a:solidFill>
                <a:latin typeface="Open Sans ExtraBold"/>
              </a:rPr>
              <a:t>THANK YOU</a:t>
            </a:r>
            <a:endParaRPr b="1" sz="2400">
              <a:solidFill>
                <a:srgbClr val="486AFD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4" name="Google Shape;364;g3f80270db7c_0_3481"/>
          <p:cNvSpPr txBox="1"/>
          <p:nvPr/>
        </p:nvSpPr>
        <p:spPr>
          <a:xfrm>
            <a:off x="1333500" y="3238500"/>
            <a:ext cx="9525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64748B"/>
                </a:solidFill>
                <a:latin typeface="Open Sans SemiBold"/>
              </a:rPr>
              <a:t>ChromaGuard turns compliance from a delayed report into an immediate physical action.</a:t>
            </a:r>
            <a:endParaRPr b="0" sz="1800">
              <a:solidFill>
                <a:srgbClr val="64748B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grpSp>
        <p:nvGrpSpPr>
          <p:cNvPr id="365" name="Google Shape;365;g3f80270db7c_0_3481"/>
          <p:cNvGrpSpPr/>
          <p:nvPr/>
        </p:nvGrpSpPr>
        <p:grpSpPr>
          <a:xfrm>
            <a:off x="1333500" y="4381500"/>
            <a:ext cx="4953000" cy="2286000"/>
            <a:chOff x="0" y="0"/>
            <a:chExt cx="4953000" cy="2286000"/>
          </a:xfrm>
        </p:grpSpPr>
        <p:sp>
          <p:nvSpPr>
            <p:cNvPr id="366" name="Google Shape;366;g3f80270db7c_0_3481"/>
            <p:cNvSpPr/>
            <p:nvPr/>
          </p:nvSpPr>
          <p:spPr>
            <a:xfrm>
              <a:off x="0" y="0"/>
              <a:ext cx="4953000" cy="2286000"/>
            </a:xfrm>
            <a:prstGeom prst="roundRect">
              <a:avLst>
                <a:gd fmla="val 8333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7" name="Google Shape;367;g3f80270db7c_0_3481"/>
            <p:cNvGrpSpPr/>
            <p:nvPr/>
          </p:nvGrpSpPr>
          <p:grpSpPr>
            <a:xfrm>
              <a:off x="381000" y="381000"/>
              <a:ext cx="762000" cy="285900"/>
              <a:chOff x="0" y="0"/>
              <a:chExt cx="762000" cy="285900"/>
            </a:xfrm>
          </p:grpSpPr>
          <p:sp>
            <p:nvSpPr>
              <p:cNvPr id="368" name="Google Shape;368;g3f80270db7c_0_3481"/>
              <p:cNvSpPr/>
              <p:nvPr/>
            </p:nvSpPr>
            <p:spPr>
              <a:xfrm>
                <a:off x="0" y="0"/>
                <a:ext cx="7620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g3f80270db7c_0_3481"/>
              <p:cNvSpPr txBox="1"/>
              <p:nvPr/>
            </p:nvSpPr>
            <p:spPr>
              <a:xfrm>
                <a:off x="0" y="0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475569"/>
                    </a:solidFill>
                    <a:latin typeface="Open Sans ExtraBold"/>
                    <a:ea typeface="Open Sans ExtraBold"/>
                    <a:cs typeface="Open Sans ExtraBold"/>
                    <a:sym typeface="Open Sans ExtraBold"/>
                  </a:rPr>
                  <a:t>EMAIL</a:t>
                </a:r>
                <a:endParaRPr b="0" sz="1200">
                  <a:solidFill>
                    <a:srgbClr val="475569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endParaRPr>
              </a:p>
            </p:txBody>
          </p:sp>
        </p:grpSp>
        <p:sp>
          <p:nvSpPr>
            <p:cNvPr id="370" name="Google Shape;370;g3f80270db7c_0_3481"/>
            <p:cNvSpPr txBox="1"/>
            <p:nvPr/>
          </p:nvSpPr>
          <p:spPr>
            <a:xfrm>
              <a:off x="381000" y="952500"/>
              <a:ext cx="4191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/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None/>
              </a:pPr>
              <a:r>
                <a:rPr sz="1750" b="0" i="0">
                  <a:solidFill>
                    <a:srgbClr val="1E293B"/>
                  </a:solidFill>
                  <a:latin typeface="Open Sans ExtraBold"/>
                  <a:hlinkClick r:id="rId11"/>
                </a:rPr>
                <a:t>sec25ee009@sairamtap.edu.in</a:t>
              </a:r>
              <a:endParaRPr b="0" sz="2400">
                <a:solidFill>
                  <a:srgbClr val="1E293B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i="0">
                  <a:solidFill>
                    <a:srgbClr val="486AFD"/>
                  </a:solidFill>
                  <a:latin typeface="Open Sans"/>
                </a:rPr>
                <a:t>Team leader email</a:t>
              </a:r>
            </a:p>
          </p:txBody>
        </p:sp>
      </p:grpSp>
      <p:grpSp>
        <p:nvGrpSpPr>
          <p:cNvPr id="371" name="Google Shape;371;g3f80270db7c_0_3481"/>
          <p:cNvGrpSpPr/>
          <p:nvPr/>
        </p:nvGrpSpPr>
        <p:grpSpPr>
          <a:xfrm>
            <a:off x="6667500" y="4381500"/>
            <a:ext cx="4953000" cy="2286000"/>
            <a:chOff x="0" y="0"/>
            <a:chExt cx="4953000" cy="2286000"/>
          </a:xfrm>
        </p:grpSpPr>
        <p:sp>
          <p:nvSpPr>
            <p:cNvPr id="372" name="Google Shape;372;g3f80270db7c_0_3481"/>
            <p:cNvSpPr/>
            <p:nvPr/>
          </p:nvSpPr>
          <p:spPr>
            <a:xfrm>
              <a:off x="0" y="0"/>
              <a:ext cx="4953000" cy="2286000"/>
            </a:xfrm>
            <a:prstGeom prst="roundRect">
              <a:avLst>
                <a:gd fmla="val 8333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3" name="Google Shape;373;g3f80270db7c_0_3481"/>
            <p:cNvGrpSpPr/>
            <p:nvPr/>
          </p:nvGrpSpPr>
          <p:grpSpPr>
            <a:xfrm>
              <a:off x="381000" y="381000"/>
              <a:ext cx="762000" cy="285900"/>
              <a:chOff x="0" y="0"/>
              <a:chExt cx="762000" cy="285900"/>
            </a:xfrm>
          </p:grpSpPr>
          <p:sp>
            <p:nvSpPr>
              <p:cNvPr id="374" name="Google Shape;374;g3f80270db7c_0_3481"/>
              <p:cNvSpPr/>
              <p:nvPr/>
            </p:nvSpPr>
            <p:spPr>
              <a:xfrm>
                <a:off x="0" y="0"/>
                <a:ext cx="7620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g3f80270db7c_0_3481"/>
              <p:cNvSpPr txBox="1"/>
              <p:nvPr/>
            </p:nvSpPr>
            <p:spPr>
              <a:xfrm>
                <a:off x="0" y="0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475569"/>
                    </a:solidFill>
                    <a:latin typeface="Open Sans ExtraBold"/>
                    <a:ea typeface="Open Sans ExtraBold"/>
                    <a:cs typeface="Open Sans ExtraBold"/>
                    <a:sym typeface="Open Sans ExtraBold"/>
                  </a:rPr>
                  <a:t>SOCIAL</a:t>
                </a:r>
                <a:endParaRPr b="0" sz="1200">
                  <a:solidFill>
                    <a:srgbClr val="475569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endParaRPr>
              </a:p>
            </p:txBody>
          </p:sp>
        </p:grpSp>
        <p:sp>
          <p:nvSpPr>
            <p:cNvPr id="376" name="Google Shape;376;g3f80270db7c_0_3481"/>
            <p:cNvSpPr txBox="1"/>
            <p:nvPr/>
          </p:nvSpPr>
          <p:spPr>
            <a:xfrm>
              <a:off x="381000" y="952500"/>
              <a:ext cx="4191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/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None/>
              </a:pPr>
              <a:r>
                <a:rPr sz="1900" b="0" i="0">
                  <a:solidFill>
                    <a:srgbClr val="1E293B"/>
                  </a:solidFill>
                  <a:latin typeface="Open Sans ExtraBold"/>
                  <a:hlinkClick r:id="rId12"/>
                </a:rPr>
                <a:t>Manieswari Murugan</a:t>
              </a:r>
              <a:endParaRPr b="0" sz="2400">
                <a:solidFill>
                  <a:srgbClr val="1E293B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i="0">
                  <a:solidFill>
                    <a:srgbClr val="486AFD"/>
                  </a:solidFill>
                  <a:latin typeface="Open Sans"/>
                </a:rPr>
                <a:t>LinkedIn profile</a:t>
              </a:r>
            </a:p>
          </p:txBody>
        </p:sp>
      </p:grpSp>
      <p:grpSp>
        <p:nvGrpSpPr>
          <p:cNvPr id="377" name="Google Shape;377;g3f80270db7c_0_3481"/>
          <p:cNvGrpSpPr/>
          <p:nvPr/>
        </p:nvGrpSpPr>
        <p:grpSpPr>
          <a:xfrm>
            <a:off x="12001500" y="4381500"/>
            <a:ext cx="4953000" cy="2286000"/>
            <a:chOff x="0" y="0"/>
            <a:chExt cx="4953000" cy="2286000"/>
          </a:xfrm>
        </p:grpSpPr>
        <p:sp>
          <p:nvSpPr>
            <p:cNvPr id="378" name="Google Shape;378;g3f80270db7c_0_3481"/>
            <p:cNvSpPr/>
            <p:nvPr/>
          </p:nvSpPr>
          <p:spPr>
            <a:xfrm>
              <a:off x="0" y="0"/>
              <a:ext cx="4953000" cy="2286000"/>
            </a:xfrm>
            <a:prstGeom prst="roundRect">
              <a:avLst>
                <a:gd fmla="val 8333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9" name="Google Shape;379;g3f80270db7c_0_3481"/>
            <p:cNvGrpSpPr/>
            <p:nvPr/>
          </p:nvGrpSpPr>
          <p:grpSpPr>
            <a:xfrm>
              <a:off x="381000" y="381000"/>
              <a:ext cx="762000" cy="285900"/>
              <a:chOff x="0" y="0"/>
              <a:chExt cx="762000" cy="285900"/>
            </a:xfrm>
          </p:grpSpPr>
          <p:sp>
            <p:nvSpPr>
              <p:cNvPr id="380" name="Google Shape;380;g3f80270db7c_0_3481"/>
              <p:cNvSpPr/>
              <p:nvPr/>
            </p:nvSpPr>
            <p:spPr>
              <a:xfrm>
                <a:off x="0" y="0"/>
                <a:ext cx="7620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g3f80270db7c_0_3481"/>
              <p:cNvSpPr txBox="1"/>
              <p:nvPr/>
            </p:nvSpPr>
            <p:spPr>
              <a:xfrm>
                <a:off x="0" y="0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475569"/>
                    </a:solidFill>
                    <a:latin typeface="Open Sans ExtraBold"/>
                    <a:ea typeface="Open Sans ExtraBold"/>
                    <a:cs typeface="Open Sans ExtraBold"/>
                    <a:sym typeface="Open Sans ExtraBold"/>
                  </a:rPr>
                  <a:t>PHONE</a:t>
                </a:r>
                <a:endParaRPr b="0" sz="1200">
                  <a:solidFill>
                    <a:srgbClr val="475569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endParaRPr>
              </a:p>
            </p:txBody>
          </p:sp>
        </p:grpSp>
        <p:sp>
          <p:nvSpPr>
            <p:cNvPr id="382" name="Google Shape;382;g3f80270db7c_0_3481"/>
            <p:cNvSpPr txBox="1"/>
            <p:nvPr/>
          </p:nvSpPr>
          <p:spPr>
            <a:xfrm>
              <a:off x="381000" y="952500"/>
              <a:ext cx="4191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/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None/>
              </a:pPr>
              <a:r>
                <a:rPr sz="2100" b="0" i="0">
                  <a:solidFill>
                    <a:srgbClr val="1E293B"/>
                  </a:solidFill>
                  <a:latin typeface="Open Sans ExtraBold"/>
                  <a:hlinkClick r:id="rId13"/>
                </a:rPr>
                <a:t>+91 88709 09047</a:t>
              </a:r>
              <a:endParaRPr b="0" sz="2400">
                <a:solidFill>
                  <a:srgbClr val="1E293B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i="0">
                  <a:solidFill>
                    <a:srgbClr val="486AFD"/>
                  </a:solidFill>
                  <a:latin typeface="Open Sans"/>
                </a:rPr>
                <a:t>Team leader contact</a:t>
              </a:r>
            </a:p>
          </p:txBody>
        </p:sp>
      </p:grpSp>
      <p:grpSp>
        <p:nvGrpSpPr>
          <p:cNvPr id="383" name="Google Shape;383;g3f80270db7c_0_3481"/>
          <p:cNvGrpSpPr/>
          <p:nvPr/>
        </p:nvGrpSpPr>
        <p:grpSpPr>
          <a:xfrm>
            <a:off x="1333500" y="7239000"/>
            <a:ext cx="15621000" cy="952500"/>
            <a:chOff x="0" y="0"/>
            <a:chExt cx="15621000" cy="952500"/>
          </a:xfrm>
        </p:grpSpPr>
        <p:sp>
          <p:nvSpPr>
            <p:cNvPr id="384" name="Google Shape;384;g3f80270db7c_0_3481"/>
            <p:cNvSpPr/>
            <p:nvPr/>
          </p:nvSpPr>
          <p:spPr>
            <a:xfrm>
              <a:off x="0" y="0"/>
              <a:ext cx="15621000" cy="952500"/>
            </a:xfrm>
            <a:prstGeom prst="roundRect">
              <a:avLst>
                <a:gd fmla="val 15000" name="adj"/>
              </a:avLst>
            </a:prstGeom>
            <a:solidFill>
              <a:srgbClr val="EEF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g3f80270db7c_0_3481"/>
            <p:cNvSpPr txBox="1"/>
            <p:nvPr/>
          </p:nvSpPr>
          <p:spPr>
            <a:xfrm>
              <a:off x="381000" y="238125"/>
              <a:ext cx="14859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/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550" b="0" i="0">
                  <a:solidFill>
                    <a:srgbClr val="475569"/>
                  </a:solidFill>
                  <a:latin typeface="Open Sans SemiBold"/>
                </a:rPr>
                <a:t>TEAM TECHNOZ  ·  SRI SAIRAM ENGINEERING COLLEGE  ·  HACKFUSION 2026</a:t>
              </a:r>
              <a:endParaRPr b="1" sz="18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86" name="Google Shape;386;g3f80270db7c_0_3481"/>
          <p:cNvSpPr/>
          <p:nvPr/>
        </p:nvSpPr>
        <p:spPr>
          <a:xfrm>
            <a:off x="190500" y="-57150"/>
            <a:ext cx="5076900" cy="175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g3f80270db7c_0_3481"/>
          <p:cNvSpPr/>
          <p:nvPr/>
        </p:nvSpPr>
        <p:spPr>
          <a:xfrm>
            <a:off x="14792325" y="438150"/>
            <a:ext cx="3133800" cy="76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3f80270db7c_0_3481"/>
          <p:cNvSpPr/>
          <p:nvPr/>
        </p:nvSpPr>
        <p:spPr>
          <a:xfrm>
            <a:off x="16678275" y="2495550"/>
            <a:ext cx="1962300" cy="1876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3f80270db7c_0_3481"/>
          <p:cNvSpPr/>
          <p:nvPr/>
        </p:nvSpPr>
        <p:spPr>
          <a:xfrm>
            <a:off x="17735550" y="6267450"/>
            <a:ext cx="885900" cy="752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g3f80270db7c_0_3481"/>
          <p:cNvSpPr/>
          <p:nvPr/>
        </p:nvSpPr>
        <p:spPr>
          <a:xfrm>
            <a:off x="16049625" y="8943975"/>
            <a:ext cx="2124000" cy="1409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f80270db7c_0_3481"/>
          <p:cNvSpPr/>
          <p:nvPr/>
        </p:nvSpPr>
        <p:spPr>
          <a:xfrm>
            <a:off x="199210" y="-57150"/>
            <a:ext cx="5267831" cy="1755944"/>
          </a:xfrm>
          <a:custGeom>
            <a:rect b="b" l="l" r="r" t="t"/>
            <a:pathLst>
              <a:path extrusionOk="0" h="1755944" w="5267831">
                <a:moveTo>
                  <a:pt x="0" y="0"/>
                </a:moveTo>
                <a:lnTo>
                  <a:pt x="5267831" y="0"/>
                </a:lnTo>
                <a:lnTo>
                  <a:pt x="5267831" y="1755944"/>
                </a:lnTo>
                <a:lnTo>
                  <a:pt x="0" y="17559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92" name="Google Shape;392;g3f80270db7c_0_3481"/>
          <p:cNvSpPr/>
          <p:nvPr/>
        </p:nvSpPr>
        <p:spPr>
          <a:xfrm>
            <a:off x="14799394" y="438739"/>
            <a:ext cx="3140410" cy="764166"/>
          </a:xfrm>
          <a:custGeom>
            <a:rect b="b" l="l" r="r" t="t"/>
            <a:pathLst>
              <a:path extrusionOk="0" h="764166" w="3140410">
                <a:moveTo>
                  <a:pt x="0" y="0"/>
                </a:moveTo>
                <a:lnTo>
                  <a:pt x="3140410" y="0"/>
                </a:lnTo>
                <a:lnTo>
                  <a:pt x="3140410" y="764166"/>
                </a:lnTo>
                <a:lnTo>
                  <a:pt x="0" y="7641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93" name="Google Shape;393;g3f80270db7c_0_3481"/>
          <p:cNvSpPr/>
          <p:nvPr/>
        </p:nvSpPr>
        <p:spPr>
          <a:xfrm rot="744277">
            <a:off x="-3111650" y="4768904"/>
            <a:ext cx="4072028" cy="4118360"/>
          </a:xfrm>
          <a:custGeom>
            <a:rect b="b" l="l" r="r" t="t"/>
            <a:pathLst>
              <a:path extrusionOk="0" h="4114800" w="4068508">
                <a:moveTo>
                  <a:pt x="0" y="0"/>
                </a:moveTo>
                <a:lnTo>
                  <a:pt x="4068508" y="0"/>
                </a:lnTo>
                <a:lnTo>
                  <a:pt x="4068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94" name="Google Shape;394;g3f80270db7c_0_3481"/>
          <p:cNvSpPr/>
          <p:nvPr/>
        </p:nvSpPr>
        <p:spPr>
          <a:xfrm rot="1770831">
            <a:off x="-1789340" y="7446447"/>
            <a:ext cx="3076965" cy="2092337"/>
          </a:xfrm>
          <a:custGeom>
            <a:rect b="b" l="l" r="r" t="t"/>
            <a:pathLst>
              <a:path extrusionOk="0" h="2092906" w="3077802">
                <a:moveTo>
                  <a:pt x="0" y="0"/>
                </a:moveTo>
                <a:lnTo>
                  <a:pt x="3077802" y="0"/>
                </a:lnTo>
                <a:lnTo>
                  <a:pt x="3077802" y="2092906"/>
                </a:lnTo>
                <a:lnTo>
                  <a:pt x="0" y="20929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95" name="Google Shape;395;g3f80270db7c_0_3481"/>
          <p:cNvSpPr/>
          <p:nvPr/>
        </p:nvSpPr>
        <p:spPr>
          <a:xfrm>
            <a:off x="16675643" y="2362193"/>
            <a:ext cx="1967557" cy="1879180"/>
          </a:xfrm>
          <a:custGeom>
            <a:rect b="b" l="l" r="r" t="t"/>
            <a:pathLst>
              <a:path extrusionOk="0" h="1879180" w="1967557">
                <a:moveTo>
                  <a:pt x="0" y="0"/>
                </a:moveTo>
                <a:lnTo>
                  <a:pt x="1967557" y="0"/>
                </a:lnTo>
                <a:lnTo>
                  <a:pt x="1967557" y="1879180"/>
                </a:lnTo>
                <a:lnTo>
                  <a:pt x="0" y="18791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96" name="Google Shape;396;g3f80270db7c_0_3481"/>
          <p:cNvSpPr/>
          <p:nvPr/>
        </p:nvSpPr>
        <p:spPr>
          <a:xfrm rot="1952229">
            <a:off x="16582574" y="2966962"/>
            <a:ext cx="3681941" cy="4213954"/>
          </a:xfrm>
          <a:custGeom>
            <a:rect b="b" l="l" r="r" t="t"/>
            <a:pathLst>
              <a:path extrusionOk="0" h="4216669" w="3684314">
                <a:moveTo>
                  <a:pt x="0" y="0"/>
                </a:moveTo>
                <a:lnTo>
                  <a:pt x="3684314" y="0"/>
                </a:lnTo>
                <a:lnTo>
                  <a:pt x="3684314" y="4216669"/>
                </a:lnTo>
                <a:lnTo>
                  <a:pt x="0" y="42166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97" name="Google Shape;397;g3f80270db7c_0_3481"/>
          <p:cNvSpPr/>
          <p:nvPr/>
        </p:nvSpPr>
        <p:spPr>
          <a:xfrm>
            <a:off x="17736411" y="6274217"/>
            <a:ext cx="891716" cy="754202"/>
          </a:xfrm>
          <a:custGeom>
            <a:rect b="b" l="l" r="r" t="t"/>
            <a:pathLst>
              <a:path extrusionOk="0" h="754202" w="891716">
                <a:moveTo>
                  <a:pt x="0" y="0"/>
                </a:moveTo>
                <a:lnTo>
                  <a:pt x="891716" y="0"/>
                </a:lnTo>
                <a:lnTo>
                  <a:pt x="891716" y="754202"/>
                </a:lnTo>
                <a:lnTo>
                  <a:pt x="0" y="7542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98" name="Google Shape;398;g3f80270db7c_0_3481"/>
          <p:cNvSpPr/>
          <p:nvPr/>
        </p:nvSpPr>
        <p:spPr>
          <a:xfrm>
            <a:off x="16056873" y="8944972"/>
            <a:ext cx="2125396" cy="1416931"/>
          </a:xfrm>
          <a:custGeom>
            <a:rect b="b" l="l" r="r" t="t"/>
            <a:pathLst>
              <a:path extrusionOk="0" h="1416931" w="2125396">
                <a:moveTo>
                  <a:pt x="0" y="0"/>
                </a:moveTo>
                <a:lnTo>
                  <a:pt x="2125396" y="0"/>
                </a:lnTo>
                <a:lnTo>
                  <a:pt x="2125396" y="1416931"/>
                </a:lnTo>
                <a:lnTo>
                  <a:pt x="0" y="141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title>ChromaGuard – HackFusion 2026</dc:title>
  <dc:subject>Textile Dyeing Pollution Monitoring &amp; Management</dc:subject>
  <dc:creator>Team TechNOZ, Sri Sairam Engineering College</dc:creator>
  <dc:description>Adapted from the ChromaGuard concept deck into the official HackFusion 2026 template.</dc:description>
</cp:coreProperties>
</file>